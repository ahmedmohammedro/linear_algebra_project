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E059E9-AE51-4111-BB13-4325785E605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D2F90E-E022-4033-BF67-B3E356CD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58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1D2F0-C3FD-433D-AA96-F11E845C7D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253F75-C688-43DA-9A51-04CCFF082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A18D8-6882-4A94-B473-EF1407F13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C141D7-3F6E-4A97-B2E9-2C79E705C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680C8-C505-465C-BE62-931E51D47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389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BC6B7-47DF-4269-8B7A-B9029CCE7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AB66B-B855-467D-847A-F1F8FA89D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934F-1B71-4D6C-B6A7-22D147FF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3A4F58-E984-493E-8B7B-AE2AC57ED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7A8BD-7610-4260-8DC9-147A68C4B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85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A5577-3E58-4068-9FAD-2376CE43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C3E9F-B5A6-4FF2-BCF4-7E664317F0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B1B24-FD73-4003-A20A-99333C673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B8D8B-2F34-4ED5-B256-13673FACC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219BC-0ADE-4481-8979-D6BA861FE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681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E849F-0AD2-4CB2-B077-DC91FA276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60324-1897-4A69-A6B2-5D1000C407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64349-2EF9-4B1B-8786-0489CDAE32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8A715-9795-4B97-8731-80B84CFB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2C1D27-3953-4A70-AA11-3EA7B1939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D0921-93C1-4608-96B2-30CC6A19D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254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A23DC-BA8C-4CCE-A57D-C352EA04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B6DDF-26B4-478F-B745-761ACB62A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3A6C00-0BF9-4C2D-BF60-11D8D5B02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E38E1D-32C3-4E73-A9C4-2EEE55272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AD414A-7133-4A34-96B9-9CCD7FCE9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280720-9444-4895-88D9-8DD6B685F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A710D2-C549-4C9F-95FA-990C68CE5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8786B-1D1A-4B97-97C5-AE98685D7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86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1F853-B2CD-436C-9092-E885E6708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3CD29-33E9-4B76-ADF3-E8D4D9805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311806-E022-4AE6-952A-C71002CA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062CE-1AC8-4DF8-84A3-1CCE7BF93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1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8A208D-A99B-4AEB-9663-C22B228BD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950A1C-9FAE-408A-AC1C-40B60F56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C9C89-A03D-473A-A3FF-7078B0C10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751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D3AAE-D666-4186-96F6-4B1B12B2F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126E1-82DF-4862-B9F1-BD4A4E77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72F987-42AC-4744-A4CA-7813374D2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7C7908-8924-4C45-9042-DA96CA6EB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47768B-06DD-4DAB-8481-88D5B2E30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07691C-F36D-4B24-991F-A62CA9F22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65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206C2-D586-482E-98D3-219A7C047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4CF21D-50E4-4D7D-9114-F0B0B3C97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57502-E581-4218-A7A4-9079EF2E0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A3DAA-F749-405A-80E9-05B4F350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3926CF-9D05-469C-93E3-D76D34F37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D4AD90-D7A7-4EBC-851C-4C00EC337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36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1546E-C8F0-48FA-9DA7-B4601E92B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3B7E02-E9D2-49D6-B0DA-91F9E701D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5186C-814B-4A37-9409-BBC469B3E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1A16E-040E-4302-AC9A-F8B708B35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2771C-389A-4DE4-A2DB-A84F7F54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17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70C0F-8A0D-4D28-A719-1B8FB7A58B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7ED1E2-15C0-4FD2-946A-66AD51E11D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27BA1-7FDE-4737-BC3F-D141CDC09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648B6-C76A-42BA-B45E-621616AB6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41908-D2F7-404C-9EC9-2F798AAA5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052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490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D72FF6-E90E-4EDF-B782-73C516A8D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6C7F51-EBFD-47DC-8CF6-DBE40A6E7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28AB9B-F14D-4546-80F7-73DF1D2632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D71A0D-A84E-40CE-9DF5-C1B87DF3F7D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9FA1D-A560-4A25-AC10-16A956D84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9978A-A661-4DDA-BC9A-FF8DBE8D0E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8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11" Type="http://schemas.microsoft.com/office/2007/relationships/hdphoto" Target="../media/hdphoto1.wdp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7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7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6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7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3" Type="http://schemas.openxmlformats.org/officeDocument/2006/relationships/image" Target="../media/image6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7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18" Type="http://schemas.openxmlformats.org/officeDocument/2006/relationships/image" Target="../media/image75.png"/><Relationship Id="rId3" Type="http://schemas.openxmlformats.org/officeDocument/2006/relationships/image" Target="../media/image6.png"/><Relationship Id="rId21" Type="http://schemas.openxmlformats.org/officeDocument/2006/relationships/image" Target="../media/image78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3.png"/><Relationship Id="rId20" Type="http://schemas.openxmlformats.org/officeDocument/2006/relationships/image" Target="../media/image7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23" Type="http://schemas.openxmlformats.org/officeDocument/2006/relationships/image" Target="../media/image80.png"/><Relationship Id="rId10" Type="http://schemas.openxmlformats.org/officeDocument/2006/relationships/image" Target="../media/image67.png"/><Relationship Id="rId19" Type="http://schemas.openxmlformats.org/officeDocument/2006/relationships/image" Target="../media/image76.png"/><Relationship Id="rId4" Type="http://schemas.openxmlformats.org/officeDocument/2006/relationships/image" Target="../media/image7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Relationship Id="rId22" Type="http://schemas.openxmlformats.org/officeDocument/2006/relationships/image" Target="../media/image7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18" Type="http://schemas.openxmlformats.org/officeDocument/2006/relationships/image" Target="../media/image94.png"/><Relationship Id="rId3" Type="http://schemas.openxmlformats.org/officeDocument/2006/relationships/image" Target="../media/image1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17" Type="http://schemas.openxmlformats.org/officeDocument/2006/relationships/image" Target="../media/image9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5" Type="http://schemas.openxmlformats.org/officeDocument/2006/relationships/image" Target="../media/image14.png"/><Relationship Id="rId10" Type="http://schemas.openxmlformats.org/officeDocument/2006/relationships/image" Target="../media/image87.png"/><Relationship Id="rId19" Type="http://schemas.openxmlformats.org/officeDocument/2006/relationships/image" Target="../media/image95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1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81.png"/><Relationship Id="rId9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1.png"/><Relationship Id="rId7" Type="http://schemas.openxmlformats.org/officeDocument/2006/relationships/image" Target="../media/image10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81.png"/><Relationship Id="rId9" Type="http://schemas.openxmlformats.org/officeDocument/2006/relationships/image" Target="../media/image10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8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18.png"/><Relationship Id="rId3" Type="http://schemas.openxmlformats.org/officeDocument/2006/relationships/image" Target="../media/image6.pn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5" Type="http://schemas.openxmlformats.org/officeDocument/2006/relationships/image" Target="../media/image110.png"/><Relationship Id="rId10" Type="http://schemas.openxmlformats.org/officeDocument/2006/relationships/image" Target="../media/image115.png"/><Relationship Id="rId4" Type="http://schemas.openxmlformats.org/officeDocument/2006/relationships/image" Target="../media/image7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6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C3D989-9D00-40F8-B4FC-B71CBAC92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" y="0"/>
            <a:ext cx="12189023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353" y="4318923"/>
            <a:ext cx="1238250" cy="1047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250" y="4543425"/>
            <a:ext cx="5019675" cy="171450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600075" y="1934101"/>
            <a:ext cx="7620000" cy="15085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from Scratch</a:t>
            </a:r>
            <a:endParaRPr lang="en-US" sz="5100" dirty="0"/>
          </a:p>
        </p:txBody>
      </p:sp>
      <p:sp>
        <p:nvSpPr>
          <p:cNvPr id="9" name="Text 1"/>
          <p:cNvSpPr/>
          <p:nvPr/>
        </p:nvSpPr>
        <p:spPr>
          <a:xfrm>
            <a:off x="600075" y="3480723"/>
            <a:ext cx="76200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9DB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CO₂ Emissions with Pure Mathematics</a:t>
            </a:r>
            <a:endParaRPr lang="en-US" sz="2500" dirty="0"/>
          </a:p>
        </p:txBody>
      </p:sp>
      <p:sp>
        <p:nvSpPr>
          <p:cNvPr id="10" name="Text 2"/>
          <p:cNvSpPr/>
          <p:nvPr/>
        </p:nvSpPr>
        <p:spPr>
          <a:xfrm>
            <a:off x="6819900" y="47910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23 — Linear Algebra for Computer Science</a:t>
            </a:r>
            <a:endParaRPr lang="en-US" sz="1400" dirty="0"/>
          </a:p>
        </p:txBody>
      </p:sp>
      <p:sp>
        <p:nvSpPr>
          <p:cNvPr id="11" name="Text 3"/>
          <p:cNvSpPr/>
          <p:nvPr/>
        </p:nvSpPr>
        <p:spPr>
          <a:xfrm>
            <a:off x="6819900" y="51339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 International University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6819900" y="54387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Instructor: Dr. Doaa Elsakout</a:t>
            </a:r>
            <a:endParaRPr lang="en-US" sz="1200" dirty="0"/>
          </a:p>
        </p:txBody>
      </p:sp>
      <p:sp>
        <p:nvSpPr>
          <p:cNvPr id="13" name="Text 5"/>
          <p:cNvSpPr/>
          <p:nvPr/>
        </p:nvSpPr>
        <p:spPr>
          <a:xfrm>
            <a:off x="6819900" y="57435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Year: 2025/2026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714500"/>
            <a:ext cx="5162550" cy="1428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3457575"/>
            <a:ext cx="400050" cy="4095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4029075"/>
            <a:ext cx="400050" cy="4095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" y="5010150"/>
            <a:ext cx="5162550" cy="876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1225" y="1219200"/>
            <a:ext cx="5734050" cy="51625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762000" y="762000"/>
            <a:ext cx="5991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CO₂ Emissions Matter</a:t>
            </a:r>
            <a:endParaRPr lang="en-US" sz="3400" dirty="0"/>
          </a:p>
        </p:txBody>
      </p:sp>
      <p:sp>
        <p:nvSpPr>
          <p:cNvPr id="11" name="Text 1"/>
          <p:cNvSpPr/>
          <p:nvPr/>
        </p:nvSpPr>
        <p:spPr>
          <a:xfrm>
            <a:off x="1000125" y="1962150"/>
            <a:ext cx="4667250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Transport accounts for a major share of global emissions; predicting vehicle CO₂ supports sustainability decisions.</a:t>
            </a:r>
            <a:endParaRPr lang="en-US" sz="140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250" y="3562350"/>
            <a:ext cx="190500" cy="200025"/>
          </a:xfrm>
          <a:prstGeom prst="rect">
            <a:avLst/>
          </a:prstGeom>
        </p:spPr>
      </p:pic>
      <p:sp>
        <p:nvSpPr>
          <p:cNvPr id="13" name="Text 2"/>
          <p:cNvSpPr/>
          <p:nvPr/>
        </p:nvSpPr>
        <p:spPr>
          <a:xfrm>
            <a:off x="1266825" y="3568303"/>
            <a:ext cx="46101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Emissions depend on engine characteristics</a:t>
            </a:r>
            <a:endParaRPr lang="en-US" sz="1200" dirty="0"/>
          </a:p>
        </p:txBody>
      </p:sp>
      <p:pic>
        <p:nvPicPr>
          <p:cNvPr id="14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7250" y="4133850"/>
            <a:ext cx="190500" cy="200025"/>
          </a:xfrm>
          <a:prstGeom prst="rect">
            <a:avLst/>
          </a:prstGeom>
        </p:spPr>
      </p:pic>
      <p:sp>
        <p:nvSpPr>
          <p:cNvPr id="15" name="Text 3"/>
          <p:cNvSpPr/>
          <p:nvPr/>
        </p:nvSpPr>
        <p:spPr>
          <a:xfrm>
            <a:off x="1295400" y="4005262"/>
            <a:ext cx="4610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 enables policy/standards, consumer awareness, and fleet planning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923925" y="5353050"/>
            <a:ext cx="14159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 specs</a:t>
            </a:r>
            <a:endParaRPr lang="en-US" sz="900" dirty="0"/>
          </a:p>
        </p:txBody>
      </p:sp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00300" y="5362575"/>
            <a:ext cx="161925" cy="17145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2625626" y="5257800"/>
            <a:ext cx="141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CO₂ prediction model</a:t>
            </a:r>
            <a:endParaRPr lang="en-US" sz="900" dirty="0"/>
          </a:p>
        </p:txBody>
      </p:sp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05275" y="5362575"/>
            <a:ext cx="161925" cy="17145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4327475" y="5181600"/>
            <a:ext cx="1416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 impact</a:t>
            </a:r>
            <a:endParaRPr lang="en-US" sz="900" dirty="0"/>
          </a:p>
        </p:txBody>
      </p:sp>
      <p:sp>
        <p:nvSpPr>
          <p:cNvPr id="21" name="Text 7"/>
          <p:cNvSpPr/>
          <p:nvPr/>
        </p:nvSpPr>
        <p:spPr>
          <a:xfrm>
            <a:off x="4327475" y="5410200"/>
            <a:ext cx="1416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(policy / product / consumer)</a:t>
            </a:r>
            <a:endParaRPr lang="en-US" sz="800" dirty="0"/>
          </a:p>
        </p:txBody>
      </p:sp>
      <p:sp>
        <p:nvSpPr>
          <p:cNvPr id="22" name="Text 8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0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5" grpId="0" animBg="1"/>
      <p:bldP spid="16" grpId="0" animBg="1"/>
      <p:bldP spid="18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9700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781175"/>
            <a:ext cx="5162550" cy="126682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" y="2019300"/>
            <a:ext cx="781050" cy="7905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" y="3286125"/>
            <a:ext cx="400050" cy="4095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475" y="3971925"/>
            <a:ext cx="400050" cy="40957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" y="4772025"/>
            <a:ext cx="5162550" cy="1047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91225" y="1219200"/>
            <a:ext cx="5734050" cy="516255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762000" y="762000"/>
            <a:ext cx="80486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Data: Canadian Vehicles</a:t>
            </a:r>
            <a:endParaRPr lang="en-US" sz="3400" dirty="0"/>
          </a:p>
        </p:txBody>
      </p:sp>
      <p:sp>
        <p:nvSpPr>
          <p:cNvPr id="12" name="Text 1"/>
          <p:cNvSpPr/>
          <p:nvPr/>
        </p:nvSpPr>
        <p:spPr>
          <a:xfrm>
            <a:off x="1990725" y="2112169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1700" dirty="0"/>
          </a:p>
        </p:txBody>
      </p:sp>
      <p:sp>
        <p:nvSpPr>
          <p:cNvPr id="13" name="Text 2"/>
          <p:cNvSpPr/>
          <p:nvPr/>
        </p:nvSpPr>
        <p:spPr>
          <a:xfrm>
            <a:off x="1990725" y="2455069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~7,385 vehicle records</a:t>
            </a:r>
            <a:endParaRPr lang="en-US" sz="1400" dirty="0"/>
          </a:p>
        </p:txBody>
      </p:sp>
      <p:sp>
        <p:nvSpPr>
          <p:cNvPr id="14" name="Text 3"/>
          <p:cNvSpPr/>
          <p:nvPr/>
        </p:nvSpPr>
        <p:spPr>
          <a:xfrm>
            <a:off x="895350" y="3384947"/>
            <a:ext cx="95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dirty="0"/>
          </a:p>
        </p:txBody>
      </p:sp>
      <p:sp>
        <p:nvSpPr>
          <p:cNvPr id="15" name="Text 4"/>
          <p:cNvSpPr/>
          <p:nvPr/>
        </p:nvSpPr>
        <p:spPr>
          <a:xfrm>
            <a:off x="1295400" y="3264694"/>
            <a:ext cx="4610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6" name="Text 5"/>
          <p:cNvSpPr/>
          <p:nvPr/>
        </p:nvSpPr>
        <p:spPr>
          <a:xfrm>
            <a:off x="1295400" y="3569494"/>
            <a:ext cx="4610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Size (L), Cylinders</a:t>
            </a:r>
            <a:endParaRPr lang="en-US" sz="1100" dirty="0"/>
          </a:p>
        </p:txBody>
      </p:sp>
      <p:sp>
        <p:nvSpPr>
          <p:cNvPr id="17" name="Text 6"/>
          <p:cNvSpPr/>
          <p:nvPr/>
        </p:nvSpPr>
        <p:spPr>
          <a:xfrm>
            <a:off x="895350" y="4055269"/>
            <a:ext cx="95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1100" dirty="0"/>
          </a:p>
        </p:txBody>
      </p:sp>
      <p:sp>
        <p:nvSpPr>
          <p:cNvPr id="18" name="Text 7"/>
          <p:cNvSpPr/>
          <p:nvPr/>
        </p:nvSpPr>
        <p:spPr>
          <a:xfrm>
            <a:off x="1295400" y="3950494"/>
            <a:ext cx="4610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</a:t>
            </a:r>
            <a:endParaRPr lang="en-US" sz="1200" dirty="0"/>
          </a:p>
        </p:txBody>
      </p:sp>
      <p:sp>
        <p:nvSpPr>
          <p:cNvPr id="19" name="Text 8"/>
          <p:cNvSpPr/>
          <p:nvPr/>
        </p:nvSpPr>
        <p:spPr>
          <a:xfrm>
            <a:off x="1295400" y="4255294"/>
            <a:ext cx="4610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CO₂ emissions (g/km)</a:t>
            </a:r>
            <a:endParaRPr lang="en-US" sz="1100" dirty="0"/>
          </a:p>
        </p:txBody>
      </p:sp>
      <p:sp>
        <p:nvSpPr>
          <p:cNvPr id="20" name="Text 9"/>
          <p:cNvSpPr/>
          <p:nvPr/>
        </p:nvSpPr>
        <p:spPr>
          <a:xfrm>
            <a:off x="1028700" y="5017294"/>
            <a:ext cx="46482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intuitive features can explain a meaningful portion of emission variance.</a:t>
            </a:r>
            <a:endParaRPr lang="en-US" sz="1200" dirty="0"/>
          </a:p>
        </p:txBody>
      </p:sp>
      <p:sp>
        <p:nvSpPr>
          <p:cNvPr id="21" name="Text 10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1850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571625"/>
            <a:ext cx="5124450" cy="1219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771650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" y="3076575"/>
            <a:ext cx="5124450" cy="1447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3276600"/>
            <a:ext cx="476250" cy="4762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475" y="4810125"/>
            <a:ext cx="5124450" cy="1219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50101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5075" y="1533525"/>
            <a:ext cx="5124450" cy="1752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5075" y="3571875"/>
            <a:ext cx="5124450" cy="24955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39025" y="4305300"/>
            <a:ext cx="2876550" cy="1447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43825" y="54102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075" y="52197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6325" y="4933950"/>
            <a:ext cx="13335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575" y="5029200"/>
            <a:ext cx="133350" cy="1333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48825" y="4552950"/>
            <a:ext cx="133350" cy="1333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29825" y="4362450"/>
            <a:ext cx="133350" cy="13335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762000" y="762000"/>
            <a:ext cx="6200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Algebra Foundations</a:t>
            </a:r>
            <a:endParaRPr lang="en-US" sz="3400" dirty="0"/>
          </a:p>
        </p:txBody>
      </p:sp>
      <p:pic>
        <p:nvPicPr>
          <p:cNvPr id="21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5375" y="1905000"/>
            <a:ext cx="190500" cy="209550"/>
          </a:xfrm>
          <a:prstGeom prst="rect">
            <a:avLst/>
          </a:prstGeom>
        </p:spPr>
      </p:pic>
      <p:sp>
        <p:nvSpPr>
          <p:cNvPr id="22" name="Text 1"/>
          <p:cNvSpPr/>
          <p:nvPr/>
        </p:nvSpPr>
        <p:spPr>
          <a:xfrm>
            <a:off x="1571625" y="1781175"/>
            <a:ext cx="4095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 &amp; Matrices</a:t>
            </a:r>
            <a:endParaRPr lang="en-US" sz="1400" dirty="0"/>
          </a:p>
        </p:txBody>
      </p:sp>
      <p:sp>
        <p:nvSpPr>
          <p:cNvPr id="23" name="Text 2"/>
          <p:cNvSpPr/>
          <p:nvPr/>
        </p:nvSpPr>
        <p:spPr>
          <a:xfrm>
            <a:off x="1571625" y="2124075"/>
            <a:ext cx="4095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Representing data as 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(features), 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(targets), and 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(weights).</a:t>
            </a:r>
            <a:endParaRPr lang="en-US" sz="1100" dirty="0"/>
          </a:p>
        </p:txBody>
      </p:sp>
      <p:pic>
        <p:nvPicPr>
          <p:cNvPr id="24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5850" y="3409950"/>
            <a:ext cx="209550" cy="209550"/>
          </a:xfrm>
          <a:prstGeom prst="rect">
            <a:avLst/>
          </a:prstGeom>
        </p:spPr>
      </p:pic>
      <p:sp>
        <p:nvSpPr>
          <p:cNvPr id="25" name="Text 3"/>
          <p:cNvSpPr/>
          <p:nvPr/>
        </p:nvSpPr>
        <p:spPr>
          <a:xfrm>
            <a:off x="1571625" y="3286125"/>
            <a:ext cx="4095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Minimizing Error</a:t>
            </a:r>
            <a:endParaRPr lang="en-US" sz="1400" dirty="0"/>
          </a:p>
        </p:txBody>
      </p:sp>
      <p:sp>
        <p:nvSpPr>
          <p:cNvPr id="26" name="Text 4"/>
          <p:cNvSpPr/>
          <p:nvPr/>
        </p:nvSpPr>
        <p:spPr>
          <a:xfrm>
            <a:off x="1571625" y="3629025"/>
            <a:ext cx="4095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Finding the optimal weights to reduce the difference between predictions and actual values.</a:t>
            </a:r>
            <a:endParaRPr lang="en-US" sz="1100" dirty="0"/>
          </a:p>
        </p:txBody>
      </p:sp>
      <p:pic>
        <p:nvPicPr>
          <p:cNvPr id="27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5850" y="5143500"/>
            <a:ext cx="209550" cy="209550"/>
          </a:xfrm>
          <a:prstGeom prst="rect">
            <a:avLst/>
          </a:prstGeom>
        </p:spPr>
      </p:pic>
      <p:sp>
        <p:nvSpPr>
          <p:cNvPr id="28" name="Text 5"/>
          <p:cNvSpPr/>
          <p:nvPr/>
        </p:nvSpPr>
        <p:spPr>
          <a:xfrm>
            <a:off x="1571625" y="5019675"/>
            <a:ext cx="4095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Squares Concept</a:t>
            </a:r>
            <a:endParaRPr lang="en-US" sz="1400" dirty="0"/>
          </a:p>
        </p:txBody>
      </p:sp>
      <p:sp>
        <p:nvSpPr>
          <p:cNvPr id="29" name="Text 6"/>
          <p:cNvSpPr/>
          <p:nvPr/>
        </p:nvSpPr>
        <p:spPr>
          <a:xfrm>
            <a:off x="1571625" y="5362575"/>
            <a:ext cx="4095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Minimizing the sum of squared residuals to find the best-fitting line.</a:t>
            </a:r>
            <a:endParaRPr lang="en-US" sz="1100" dirty="0"/>
          </a:p>
        </p:txBody>
      </p:sp>
      <p:sp>
        <p:nvSpPr>
          <p:cNvPr id="30" name="Text 7"/>
          <p:cNvSpPr/>
          <p:nvPr/>
        </p:nvSpPr>
        <p:spPr>
          <a:xfrm>
            <a:off x="7777163" y="1857375"/>
            <a:ext cx="2200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Representation</a:t>
            </a:r>
            <a:endParaRPr lang="en-US" sz="1200" dirty="0"/>
          </a:p>
        </p:txBody>
      </p:sp>
      <p:sp>
        <p:nvSpPr>
          <p:cNvPr id="31" name="Text 8"/>
          <p:cNvSpPr/>
          <p:nvPr/>
        </p:nvSpPr>
        <p:spPr>
          <a:xfrm>
            <a:off x="798195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2100" dirty="0"/>
          </a:p>
        </p:txBody>
      </p:sp>
      <p:sp>
        <p:nvSpPr>
          <p:cNvPr id="32" name="Text 9"/>
          <p:cNvSpPr/>
          <p:nvPr/>
        </p:nvSpPr>
        <p:spPr>
          <a:xfrm>
            <a:off x="830580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2100" dirty="0"/>
          </a:p>
        </p:txBody>
      </p:sp>
      <p:sp>
        <p:nvSpPr>
          <p:cNvPr id="33" name="Text 10"/>
          <p:cNvSpPr/>
          <p:nvPr/>
        </p:nvSpPr>
        <p:spPr>
          <a:xfrm>
            <a:off x="862965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100" dirty="0"/>
          </a:p>
        </p:txBody>
      </p:sp>
      <p:sp>
        <p:nvSpPr>
          <p:cNvPr id="34" name="Text 11"/>
          <p:cNvSpPr/>
          <p:nvPr/>
        </p:nvSpPr>
        <p:spPr>
          <a:xfrm>
            <a:off x="895350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D7D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2100" dirty="0"/>
          </a:p>
        </p:txBody>
      </p:sp>
      <p:sp>
        <p:nvSpPr>
          <p:cNvPr id="35" name="Text 12"/>
          <p:cNvSpPr/>
          <p:nvPr/>
        </p:nvSpPr>
        <p:spPr>
          <a:xfrm>
            <a:off x="927735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2100" dirty="0"/>
          </a:p>
        </p:txBody>
      </p:sp>
      <p:sp>
        <p:nvSpPr>
          <p:cNvPr id="36" name="Text 13"/>
          <p:cNvSpPr/>
          <p:nvPr/>
        </p:nvSpPr>
        <p:spPr>
          <a:xfrm>
            <a:off x="960120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100" dirty="0"/>
          </a:p>
        </p:txBody>
      </p:sp>
      <p:sp>
        <p:nvSpPr>
          <p:cNvPr id="37" name="Text 14"/>
          <p:cNvSpPr/>
          <p:nvPr/>
        </p:nvSpPr>
        <p:spPr>
          <a:xfrm>
            <a:off x="7581900" y="2771775"/>
            <a:ext cx="2590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Features × Weights + Bias</a:t>
            </a:r>
            <a:endParaRPr lang="en-US" sz="900" dirty="0"/>
          </a:p>
        </p:txBody>
      </p:sp>
      <p:sp>
        <p:nvSpPr>
          <p:cNvPr id="38" name="Text 15"/>
          <p:cNvSpPr/>
          <p:nvPr/>
        </p:nvSpPr>
        <p:spPr>
          <a:xfrm>
            <a:off x="8092232" y="3895725"/>
            <a:ext cx="1570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→ Line Fit</a:t>
            </a:r>
            <a:endParaRPr lang="en-US" sz="1200" dirty="0"/>
          </a:p>
        </p:txBody>
      </p:sp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4317626"/>
            <a:ext cx="2857500" cy="1428750"/>
          </a:xfrm>
          <a:prstGeom prst="rect">
            <a:avLst/>
          </a:prstGeom>
        </p:spPr>
      </p:pic>
      <p:sp>
        <p:nvSpPr>
          <p:cNvPr id="40" name="Text 16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775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25" y="1943100"/>
            <a:ext cx="5295900" cy="12001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2181225"/>
            <a:ext cx="552450" cy="5619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3625" y="1743075"/>
            <a:ext cx="5295900" cy="411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550" y="2400300"/>
            <a:ext cx="1238250" cy="4762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8350" y="2400300"/>
            <a:ext cx="1238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67650" y="3314700"/>
            <a:ext cx="184785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86550" y="4229100"/>
            <a:ext cx="123825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350" y="4229100"/>
            <a:ext cx="1238250" cy="4762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81950" y="4953000"/>
            <a:ext cx="1619250" cy="857250"/>
          </a:xfrm>
          <a:prstGeom prst="rect">
            <a:avLst/>
          </a:prstGeom>
        </p:spPr>
      </p:pic>
      <p:sp>
        <p:nvSpPr>
          <p:cNvPr id="15" name="Text 0"/>
          <p:cNvSpPr/>
          <p:nvPr/>
        </p:nvSpPr>
        <p:spPr>
          <a:xfrm>
            <a:off x="762000" y="762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Equation</a:t>
            </a:r>
            <a:endParaRPr lang="en-US" sz="3400" dirty="0"/>
          </a:p>
        </p:txBody>
      </p:sp>
      <p:pic>
        <p:nvPicPr>
          <p:cNvPr id="16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5350" y="2333625"/>
            <a:ext cx="247650" cy="257175"/>
          </a:xfrm>
          <a:prstGeom prst="rect">
            <a:avLst/>
          </a:prstGeom>
        </p:spPr>
      </p:pic>
      <p:sp>
        <p:nvSpPr>
          <p:cNvPr id="17" name="Text 1"/>
          <p:cNvSpPr/>
          <p:nvPr/>
        </p:nvSpPr>
        <p:spPr>
          <a:xfrm>
            <a:off x="1476375" y="2194322"/>
            <a:ext cx="4076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 closed-form solution</a:t>
            </a:r>
            <a:endParaRPr lang="en-US" sz="1700" dirty="0"/>
          </a:p>
        </p:txBody>
      </p:sp>
      <p:sp>
        <p:nvSpPr>
          <p:cNvPr id="18" name="Text 2"/>
          <p:cNvSpPr/>
          <p:nvPr/>
        </p:nvSpPr>
        <p:spPr>
          <a:xfrm>
            <a:off x="1476375" y="2613422"/>
            <a:ext cx="407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once, get optimal weights.</a:t>
            </a:r>
            <a:endParaRPr lang="en-US" sz="12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1514678-4DF4-442E-894E-CEC7DCC5092E}"/>
              </a:ext>
            </a:extLst>
          </p:cNvPr>
          <p:cNvGrpSpPr/>
          <p:nvPr/>
        </p:nvGrpSpPr>
        <p:grpSpPr>
          <a:xfrm>
            <a:off x="96545" y="3794521"/>
            <a:ext cx="5867400" cy="1971675"/>
            <a:chOff x="228600" y="3415903"/>
            <a:chExt cx="5867400" cy="1971675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28600" y="3415903"/>
              <a:ext cx="5867400" cy="1971675"/>
            </a:xfrm>
            <a:prstGeom prst="rect">
              <a:avLst/>
            </a:prstGeom>
          </p:spPr>
        </p:pic>
        <p:sp>
          <p:nvSpPr>
            <p:cNvPr id="19" name="Text 3"/>
            <p:cNvSpPr/>
            <p:nvPr/>
          </p:nvSpPr>
          <p:spPr>
            <a:xfrm>
              <a:off x="771525" y="3964781"/>
              <a:ext cx="47815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Formula</a:t>
              </a:r>
              <a:endParaRPr lang="en-US" sz="2400" dirty="0"/>
            </a:p>
          </p:txBody>
        </p:sp>
        <p:sp>
          <p:nvSpPr>
            <p:cNvPr id="20" name="Text 4"/>
            <p:cNvSpPr/>
            <p:nvPr/>
          </p:nvSpPr>
          <p:spPr>
            <a:xfrm>
              <a:off x="1497806" y="4460081"/>
              <a:ext cx="226814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500" dirty="0"/>
            </a:p>
          </p:txBody>
        </p:sp>
        <p:sp>
          <p:nvSpPr>
            <p:cNvPr id="21" name="Text 5"/>
            <p:cNvSpPr/>
            <p:nvPr/>
          </p:nvSpPr>
          <p:spPr>
            <a:xfrm>
              <a:off x="1877020" y="4460081"/>
              <a:ext cx="226814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endParaRPr lang="en-US" sz="2500" dirty="0"/>
            </a:p>
          </p:txBody>
        </p:sp>
        <p:sp>
          <p:nvSpPr>
            <p:cNvPr id="22" name="Text 6"/>
            <p:cNvSpPr/>
            <p:nvPr/>
          </p:nvSpPr>
          <p:spPr>
            <a:xfrm>
              <a:off x="2256234" y="4460081"/>
              <a:ext cx="164246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(X</a:t>
              </a:r>
              <a:r>
                <a:rPr lang="en-US" sz="19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r>
                <a:rPr lang="en-US" sz="25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X)</a:t>
              </a:r>
              <a:r>
                <a:rPr lang="en-US" sz="19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-1</a:t>
              </a:r>
              <a:endParaRPr lang="en-US" sz="2500" dirty="0"/>
            </a:p>
          </p:txBody>
        </p:sp>
        <p:sp>
          <p:nvSpPr>
            <p:cNvPr id="23" name="Text 7"/>
            <p:cNvSpPr/>
            <p:nvPr/>
          </p:nvSpPr>
          <p:spPr>
            <a:xfrm>
              <a:off x="4051102" y="4460081"/>
              <a:ext cx="396478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X</a:t>
              </a:r>
              <a:r>
                <a:rPr lang="en-US" sz="19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endParaRPr lang="en-US" sz="2500" dirty="0"/>
            </a:p>
          </p:txBody>
        </p:sp>
        <p:sp>
          <p:nvSpPr>
            <p:cNvPr id="24" name="Text 8"/>
            <p:cNvSpPr/>
            <p:nvPr/>
          </p:nvSpPr>
          <p:spPr>
            <a:xfrm>
              <a:off x="4599980" y="4460081"/>
              <a:ext cx="226814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9DB8A8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y</a:t>
              </a:r>
              <a:endParaRPr lang="en-US" sz="2500" dirty="0"/>
            </a:p>
          </p:txBody>
        </p:sp>
      </p:grpSp>
      <p:sp>
        <p:nvSpPr>
          <p:cNvPr id="25" name="Text 9"/>
          <p:cNvSpPr/>
          <p:nvPr/>
        </p:nvSpPr>
        <p:spPr>
          <a:xfrm>
            <a:off x="7305675" y="1990725"/>
            <a:ext cx="2971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Multiplication Flow</a:t>
            </a:r>
            <a:endParaRPr lang="en-US" sz="1400" dirty="0"/>
          </a:p>
        </p:txBody>
      </p:sp>
      <p:sp>
        <p:nvSpPr>
          <p:cNvPr id="26" name="Text 10"/>
          <p:cNvSpPr/>
          <p:nvPr/>
        </p:nvSpPr>
        <p:spPr>
          <a:xfrm>
            <a:off x="7205663" y="2505075"/>
            <a:ext cx="200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0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400" dirty="0"/>
          </a:p>
        </p:txBody>
      </p:sp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05850" y="2533650"/>
            <a:ext cx="171450" cy="209550"/>
          </a:xfrm>
          <a:prstGeom prst="rect">
            <a:avLst/>
          </a:prstGeom>
        </p:spPr>
      </p:pic>
      <p:sp>
        <p:nvSpPr>
          <p:cNvPr id="28" name="Text 11"/>
          <p:cNvSpPr/>
          <p:nvPr/>
        </p:nvSpPr>
        <p:spPr>
          <a:xfrm>
            <a:off x="10220325" y="2505075"/>
            <a:ext cx="114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1400" dirty="0"/>
          </a:p>
        </p:txBody>
      </p:sp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96325" y="2971800"/>
            <a:ext cx="190500" cy="247650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077200" y="3419475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Inverse ( )</a:t>
            </a:r>
            <a:r>
              <a:rPr lang="en-US" sz="10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4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96325" y="3886200"/>
            <a:ext cx="190500" cy="247650"/>
          </a:xfrm>
          <a:prstGeom prst="rect">
            <a:avLst/>
          </a:prstGeom>
        </p:spPr>
      </p:pic>
      <p:sp>
        <p:nvSpPr>
          <p:cNvPr id="32" name="Text 13"/>
          <p:cNvSpPr/>
          <p:nvPr/>
        </p:nvSpPr>
        <p:spPr>
          <a:xfrm>
            <a:off x="7205663" y="4333875"/>
            <a:ext cx="200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0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400" dirty="0"/>
          </a:p>
        </p:txBody>
      </p:sp>
      <p:pic>
        <p:nvPicPr>
          <p:cNvPr id="33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05850" y="4362450"/>
            <a:ext cx="171450" cy="209550"/>
          </a:xfrm>
          <a:prstGeom prst="rect">
            <a:avLst/>
          </a:prstGeom>
        </p:spPr>
      </p:pic>
      <p:sp>
        <p:nvSpPr>
          <p:cNvPr id="34" name="Text 14"/>
          <p:cNvSpPr/>
          <p:nvPr/>
        </p:nvSpPr>
        <p:spPr>
          <a:xfrm>
            <a:off x="10220325" y="4333875"/>
            <a:ext cx="114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140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96325" y="4800600"/>
            <a:ext cx="190500" cy="247650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8724900" y="5229225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700" dirty="0"/>
          </a:p>
        </p:txBody>
      </p:sp>
      <p:sp>
        <p:nvSpPr>
          <p:cNvPr id="37" name="Text 16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18" grpId="0" animBg="1"/>
      <p:bldP spid="25" grpId="0" animBg="1"/>
      <p:bldP spid="26" grpId="0" animBg="1"/>
      <p:bldP spid="28" grpId="0" animBg="1"/>
      <p:bldP spid="30" grpId="0" animBg="1"/>
      <p:bldP spid="32" grpId="0" animBg="1"/>
      <p:bldP spid="34" grpId="0" animBg="1"/>
      <p:bldP spid="3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5375" y="962025"/>
            <a:ext cx="781050" cy="571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775" y="1885950"/>
            <a:ext cx="5238750" cy="38290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900" y="4486275"/>
            <a:ext cx="4762500" cy="990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7657" y="5098797"/>
            <a:ext cx="1630286" cy="117982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3371" y="5077346"/>
            <a:ext cx="150158" cy="160884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650" y="5086350"/>
            <a:ext cx="133350" cy="142875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5086350"/>
            <a:ext cx="133350" cy="14287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6250" y="5105400"/>
            <a:ext cx="1447800" cy="104775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5086350"/>
            <a:ext cx="133350" cy="1428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5086350"/>
            <a:ext cx="133350" cy="142875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2125" y="5086350"/>
            <a:ext cx="133350" cy="142875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3600" y="5105400"/>
            <a:ext cx="1447800" cy="104775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04613" y="4991100"/>
            <a:ext cx="1473011" cy="3333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9350" y="5086350"/>
            <a:ext cx="133350" cy="142875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25175" y="5086350"/>
            <a:ext cx="133350" cy="142875"/>
          </a:xfrm>
          <a:prstGeom prst="rect">
            <a:avLst/>
          </a:prstGeom>
        </p:spPr>
      </p:pic>
      <p:sp>
        <p:nvSpPr>
          <p:cNvPr id="23" name="Text 0"/>
          <p:cNvSpPr/>
          <p:nvPr/>
        </p:nvSpPr>
        <p:spPr>
          <a:xfrm>
            <a:off x="762000" y="762000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endParaRPr lang="en-US" sz="34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9A9A981-8DA7-44B7-BF11-9BB3F40D190D}"/>
              </a:ext>
            </a:extLst>
          </p:cNvPr>
          <p:cNvGrpSpPr/>
          <p:nvPr/>
        </p:nvGrpSpPr>
        <p:grpSpPr>
          <a:xfrm>
            <a:off x="466725" y="1123950"/>
            <a:ext cx="5810250" cy="1857375"/>
            <a:chOff x="466725" y="1123950"/>
            <a:chExt cx="5810250" cy="1857375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66725" y="1123950"/>
              <a:ext cx="5810250" cy="1857375"/>
            </a:xfrm>
            <a:prstGeom prst="rect">
              <a:avLst/>
            </a:prstGeom>
          </p:spPr>
        </p:pic>
        <p:sp>
          <p:nvSpPr>
            <p:cNvPr id="24" name="Text 1"/>
            <p:cNvSpPr/>
            <p:nvPr/>
          </p:nvSpPr>
          <p:spPr>
            <a:xfrm>
              <a:off x="1009650" y="1675209"/>
              <a:ext cx="47244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Formula</a:t>
              </a:r>
              <a:endParaRPr lang="en-US" sz="1400" dirty="0"/>
            </a:p>
          </p:txBody>
        </p:sp>
        <p:sp>
          <p:nvSpPr>
            <p:cNvPr id="25" name="Text 2"/>
            <p:cNvSpPr/>
            <p:nvPr/>
          </p:nvSpPr>
          <p:spPr>
            <a:xfrm>
              <a:off x="1599902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100" dirty="0"/>
            </a:p>
          </p:txBody>
        </p:sp>
        <p:sp>
          <p:nvSpPr>
            <p:cNvPr id="26" name="Text 3"/>
            <p:cNvSpPr/>
            <p:nvPr/>
          </p:nvSpPr>
          <p:spPr>
            <a:xfrm>
              <a:off x="1899940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endParaRPr lang="en-US" sz="2100" dirty="0"/>
            </a:p>
          </p:txBody>
        </p:sp>
        <p:sp>
          <p:nvSpPr>
            <p:cNvPr id="27" name="Text 4"/>
            <p:cNvSpPr/>
            <p:nvPr/>
          </p:nvSpPr>
          <p:spPr>
            <a:xfrm>
              <a:off x="2199977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100" dirty="0"/>
            </a:p>
          </p:txBody>
        </p:sp>
        <p:sp>
          <p:nvSpPr>
            <p:cNvPr id="28" name="Text 5"/>
            <p:cNvSpPr/>
            <p:nvPr/>
          </p:nvSpPr>
          <p:spPr>
            <a:xfrm>
              <a:off x="2500015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</a:t>
              </a:r>
              <a:endParaRPr lang="en-US" sz="2100" dirty="0"/>
            </a:p>
          </p:txBody>
        </p:sp>
        <p:sp>
          <p:nvSpPr>
            <p:cNvPr id="29" name="Text 6"/>
            <p:cNvSpPr/>
            <p:nvPr/>
          </p:nvSpPr>
          <p:spPr>
            <a:xfrm>
              <a:off x="2800052" y="2094309"/>
              <a:ext cx="18633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α</a:t>
              </a:r>
              <a:endParaRPr lang="en-US" sz="2100" dirty="0"/>
            </a:p>
          </p:txBody>
        </p:sp>
        <p:sp>
          <p:nvSpPr>
            <p:cNvPr id="30" name="Text 7"/>
            <p:cNvSpPr/>
            <p:nvPr/>
          </p:nvSpPr>
          <p:spPr>
            <a:xfrm>
              <a:off x="3062585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·</a:t>
              </a:r>
              <a:endParaRPr lang="en-US" sz="2100" dirty="0"/>
            </a:p>
          </p:txBody>
        </p:sp>
        <p:sp>
          <p:nvSpPr>
            <p:cNvPr id="31" name="Text 8"/>
            <p:cNvSpPr/>
            <p:nvPr/>
          </p:nvSpPr>
          <p:spPr>
            <a:xfrm>
              <a:off x="3324523" y="2094309"/>
              <a:ext cx="18192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X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(Xw - y)</a:t>
              </a:r>
              <a:endParaRPr lang="en-US" sz="21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BD6FF31-0800-46C5-BEEF-6559E1A0EE5C}"/>
              </a:ext>
            </a:extLst>
          </p:cNvPr>
          <p:cNvGrpSpPr/>
          <p:nvPr/>
        </p:nvGrpSpPr>
        <p:grpSpPr>
          <a:xfrm>
            <a:off x="752475" y="2857500"/>
            <a:ext cx="5238750" cy="1447800"/>
            <a:chOff x="752475" y="2857500"/>
            <a:chExt cx="5238750" cy="1447800"/>
          </a:xfrm>
        </p:grpSpPr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52475" y="2857500"/>
              <a:ext cx="5238750" cy="1447800"/>
            </a:xfrm>
            <a:prstGeom prst="rect">
              <a:avLst/>
            </a:prstGeom>
          </p:spPr>
        </p:pic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90600" y="3095625"/>
              <a:ext cx="476250" cy="485775"/>
            </a:xfrm>
            <a:prstGeom prst="rect">
              <a:avLst/>
            </a:prstGeom>
          </p:spPr>
        </p:pic>
        <p:pic>
          <p:nvPicPr>
            <p:cNvPr id="32" name="Image 21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104900" y="3209925"/>
              <a:ext cx="247650" cy="257175"/>
            </a:xfrm>
            <a:prstGeom prst="rect">
              <a:avLst/>
            </a:prstGeom>
          </p:spPr>
        </p:pic>
        <p:sp>
          <p:nvSpPr>
            <p:cNvPr id="33" name="Text 9"/>
            <p:cNvSpPr/>
            <p:nvPr/>
          </p:nvSpPr>
          <p:spPr>
            <a:xfrm>
              <a:off x="1647825" y="3113484"/>
              <a:ext cx="40957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Iterative Optimization</a:t>
              </a:r>
              <a:endParaRPr lang="en-US" sz="1700" dirty="0"/>
            </a:p>
          </p:txBody>
        </p:sp>
        <p:sp>
          <p:nvSpPr>
            <p:cNvPr id="34" name="Text 10"/>
            <p:cNvSpPr/>
            <p:nvPr/>
          </p:nvSpPr>
          <p:spPr>
            <a:xfrm>
              <a:off x="1647825" y="3494484"/>
              <a:ext cx="4095750" cy="5572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Gradually updates weights step-by-step to find the minimum error.</a:t>
              </a:r>
              <a:endParaRPr lang="en-US" sz="1200" dirty="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160243B-525E-435E-8B51-D3950A822F05}"/>
              </a:ext>
            </a:extLst>
          </p:cNvPr>
          <p:cNvGrpSpPr/>
          <p:nvPr/>
        </p:nvGrpSpPr>
        <p:grpSpPr>
          <a:xfrm>
            <a:off x="752475" y="4467225"/>
            <a:ext cx="5238750" cy="1724025"/>
            <a:chOff x="752475" y="4467225"/>
            <a:chExt cx="5238750" cy="1724025"/>
          </a:xfrm>
        </p:grpSpPr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52475" y="4467225"/>
              <a:ext cx="5238750" cy="1724025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90600" y="4705350"/>
              <a:ext cx="476250" cy="485775"/>
            </a:xfrm>
            <a:prstGeom prst="rect">
              <a:avLst/>
            </a:prstGeom>
          </p:spPr>
        </p:pic>
        <p:pic>
          <p:nvPicPr>
            <p:cNvPr id="35" name="Image 22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104900" y="4819650"/>
              <a:ext cx="247650" cy="257175"/>
            </a:xfrm>
            <a:prstGeom prst="rect">
              <a:avLst/>
            </a:prstGeom>
          </p:spPr>
        </p:pic>
        <p:sp>
          <p:nvSpPr>
            <p:cNvPr id="36" name="Text 11"/>
            <p:cNvSpPr/>
            <p:nvPr/>
          </p:nvSpPr>
          <p:spPr>
            <a:xfrm>
              <a:off x="1647825" y="4718447"/>
              <a:ext cx="40957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Key Parameters</a:t>
              </a:r>
              <a:endParaRPr lang="en-US" sz="1700" dirty="0"/>
            </a:p>
          </p:txBody>
        </p:sp>
        <p:sp>
          <p:nvSpPr>
            <p:cNvPr id="37" name="Text 12"/>
            <p:cNvSpPr/>
            <p:nvPr/>
          </p:nvSpPr>
          <p:spPr>
            <a:xfrm>
              <a:off x="1647825" y="5099447"/>
              <a:ext cx="4095750" cy="8358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Requires tuning the </a:t>
              </a:r>
              <a:r>
                <a:rPr lang="en-US" sz="12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learning rate (α)</a:t>
              </a: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and setting the number of iterations for convergence.</a:t>
              </a:r>
              <a:endParaRPr lang="en-US" sz="1200" dirty="0"/>
            </a:p>
          </p:txBody>
        </p:sp>
      </p:grpSp>
      <p:sp>
        <p:nvSpPr>
          <p:cNvPr id="38" name="Text 13"/>
          <p:cNvSpPr/>
          <p:nvPr/>
        </p:nvSpPr>
        <p:spPr>
          <a:xfrm>
            <a:off x="7677150" y="2138363"/>
            <a:ext cx="2286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Step-by-Step Descent</a:t>
            </a:r>
            <a:endParaRPr lang="en-US" sz="1400" dirty="0"/>
          </a:p>
        </p:txBody>
      </p:sp>
      <p:pic>
        <p:nvPicPr>
          <p:cNvPr id="39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96125" y="2543175"/>
            <a:ext cx="3448050" cy="1743075"/>
          </a:xfrm>
          <a:prstGeom prst="rect">
            <a:avLst/>
          </a:prstGeom>
        </p:spPr>
      </p:pic>
      <p:sp>
        <p:nvSpPr>
          <p:cNvPr id="40" name="Text 14"/>
          <p:cNvSpPr/>
          <p:nvPr/>
        </p:nvSpPr>
        <p:spPr>
          <a:xfrm>
            <a:off x="6448425" y="4700588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 Rate (α) Impact</a:t>
            </a:r>
            <a:endParaRPr lang="en-US" sz="1200" dirty="0"/>
          </a:p>
        </p:txBody>
      </p:sp>
      <p:sp>
        <p:nvSpPr>
          <p:cNvPr id="41" name="Text 15"/>
          <p:cNvSpPr/>
          <p:nvPr/>
        </p:nvSpPr>
        <p:spPr>
          <a:xfrm>
            <a:off x="6819900" y="5272088"/>
            <a:ext cx="68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Small</a:t>
            </a:r>
            <a:endParaRPr lang="en-US" sz="900" dirty="0"/>
          </a:p>
        </p:txBody>
      </p:sp>
      <p:sp>
        <p:nvSpPr>
          <p:cNvPr id="42" name="Text 16"/>
          <p:cNvSpPr/>
          <p:nvPr/>
        </p:nvSpPr>
        <p:spPr>
          <a:xfrm>
            <a:off x="8553450" y="5272088"/>
            <a:ext cx="533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Optimal</a:t>
            </a:r>
            <a:endParaRPr lang="en-US" sz="900" dirty="0"/>
          </a:p>
        </p:txBody>
      </p:sp>
      <p:sp>
        <p:nvSpPr>
          <p:cNvPr id="44" name="Text 17"/>
          <p:cNvSpPr/>
          <p:nvPr/>
        </p:nvSpPr>
        <p:spPr>
          <a:xfrm>
            <a:off x="10134600" y="5272088"/>
            <a:ext cx="68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Large</a:t>
            </a:r>
            <a:endParaRPr lang="en-US" sz="900" dirty="0"/>
          </a:p>
        </p:txBody>
      </p:sp>
      <p:sp>
        <p:nvSpPr>
          <p:cNvPr id="45" name="Text 18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8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8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9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500"/>
                            </p:stCondLst>
                            <p:childTnLst>
                              <p:par>
                                <p:cTn id="9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000"/>
                            </p:stCondLst>
                            <p:childTnLst>
                              <p:par>
                                <p:cTn id="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38" grpId="0" animBg="1"/>
      <p:bldP spid="40" grpId="0" animBg="1"/>
      <p:bldP spid="41" grpId="0" animBg="1"/>
      <p:bldP spid="42" grpId="0" animBg="1"/>
      <p:bldP spid="4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5" y="962025"/>
            <a:ext cx="781050" cy="571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775" y="1933575"/>
            <a:ext cx="5238750" cy="3733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552700"/>
            <a:ext cx="4838700" cy="145732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2175" y="3343275"/>
            <a:ext cx="1295400" cy="54292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7900" y="3486150"/>
            <a:ext cx="180975" cy="66675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7900" y="3676650"/>
            <a:ext cx="180975" cy="66675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4171950"/>
            <a:ext cx="4838700" cy="1295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200" y="4676775"/>
            <a:ext cx="4533900" cy="104775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66086" y="4677335"/>
            <a:ext cx="2276475" cy="1047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10625" y="4676775"/>
            <a:ext cx="2276475" cy="104775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4638675"/>
            <a:ext cx="171450" cy="180975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20125" y="4524375"/>
            <a:ext cx="400050" cy="409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91850" y="4638675"/>
            <a:ext cx="171450" cy="180975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762000" y="762000"/>
            <a:ext cx="3905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Regression</a:t>
            </a:r>
            <a:endParaRPr lang="en-US" sz="3400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A02A62E-3176-4F51-B9FD-6A3C3F639F43}"/>
              </a:ext>
            </a:extLst>
          </p:cNvPr>
          <p:cNvGrpSpPr/>
          <p:nvPr/>
        </p:nvGrpSpPr>
        <p:grpSpPr>
          <a:xfrm>
            <a:off x="752475" y="1524000"/>
            <a:ext cx="5238750" cy="1600200"/>
            <a:chOff x="752475" y="1524000"/>
            <a:chExt cx="5238750" cy="1600200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52475" y="1524000"/>
              <a:ext cx="5238750" cy="160020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914400" y="1685925"/>
              <a:ext cx="400050" cy="409575"/>
            </a:xfrm>
            <a:prstGeom prst="rect">
              <a:avLst/>
            </a:prstGeom>
          </p:spPr>
        </p:pic>
        <p:pic>
          <p:nvPicPr>
            <p:cNvPr id="23" name="Image 20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90600" y="1762125"/>
              <a:ext cx="247650" cy="257175"/>
            </a:xfrm>
            <a:prstGeom prst="rect">
              <a:avLst/>
            </a:prstGeom>
          </p:spPr>
        </p:pic>
        <p:sp>
          <p:nvSpPr>
            <p:cNvPr id="24" name="Text 1"/>
            <p:cNvSpPr/>
            <p:nvPr/>
          </p:nvSpPr>
          <p:spPr>
            <a:xfrm>
              <a:off x="1495425" y="1697831"/>
              <a:ext cx="43243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L2-Regularized Solution</a:t>
              </a:r>
              <a:endParaRPr lang="en-US" sz="1700" dirty="0"/>
            </a:p>
          </p:txBody>
        </p:sp>
        <p:sp>
          <p:nvSpPr>
            <p:cNvPr id="25" name="Text 2"/>
            <p:cNvSpPr/>
            <p:nvPr/>
          </p:nvSpPr>
          <p:spPr>
            <a:xfrm>
              <a:off x="1495425" y="2116931"/>
              <a:ext cx="4324350" cy="8358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Adds a penalty term to the loss function to constrain weight magnitudes and improve model stability.</a:t>
              </a:r>
              <a:endParaRPr lang="en-US" sz="12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25A058E-7C4D-4647-A225-BA77FE0935CE}"/>
              </a:ext>
            </a:extLst>
          </p:cNvPr>
          <p:cNvGrpSpPr/>
          <p:nvPr/>
        </p:nvGrpSpPr>
        <p:grpSpPr>
          <a:xfrm>
            <a:off x="466725" y="2933700"/>
            <a:ext cx="5810250" cy="1733550"/>
            <a:chOff x="466725" y="2933700"/>
            <a:chExt cx="5810250" cy="173355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66725" y="2933700"/>
              <a:ext cx="5810250" cy="1733550"/>
            </a:xfrm>
            <a:prstGeom prst="rect">
              <a:avLst/>
            </a:prstGeom>
          </p:spPr>
        </p:pic>
        <p:sp>
          <p:nvSpPr>
            <p:cNvPr id="26" name="Text 3"/>
            <p:cNvSpPr/>
            <p:nvPr/>
          </p:nvSpPr>
          <p:spPr>
            <a:xfrm>
              <a:off x="971550" y="3438525"/>
              <a:ext cx="4800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Formula</a:t>
              </a:r>
              <a:endParaRPr lang="en-US" sz="1400" dirty="0"/>
            </a:p>
          </p:txBody>
        </p:sp>
        <p:sp>
          <p:nvSpPr>
            <p:cNvPr id="27" name="Text 4"/>
            <p:cNvSpPr/>
            <p:nvPr/>
          </p:nvSpPr>
          <p:spPr>
            <a:xfrm>
              <a:off x="1547515" y="3819525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100" dirty="0"/>
            </a:p>
          </p:txBody>
        </p:sp>
        <p:sp>
          <p:nvSpPr>
            <p:cNvPr id="28" name="Text 5"/>
            <p:cNvSpPr/>
            <p:nvPr/>
          </p:nvSpPr>
          <p:spPr>
            <a:xfrm>
              <a:off x="1847552" y="3819525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endParaRPr lang="en-US" sz="2100" dirty="0"/>
            </a:p>
          </p:txBody>
        </p:sp>
        <p:sp>
          <p:nvSpPr>
            <p:cNvPr id="29" name="Text 6"/>
            <p:cNvSpPr/>
            <p:nvPr/>
          </p:nvSpPr>
          <p:spPr>
            <a:xfrm>
              <a:off x="2147590" y="3819525"/>
              <a:ext cx="230088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(X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X + </a:t>
              </a:r>
              <a:r>
                <a:rPr lang="en-US" sz="21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λI</a:t>
              </a: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-1</a:t>
              </a:r>
              <a:endParaRPr lang="en-US" sz="2100" dirty="0"/>
            </a:p>
          </p:txBody>
        </p:sp>
        <p:sp>
          <p:nvSpPr>
            <p:cNvPr id="30" name="Text 7"/>
            <p:cNvSpPr/>
            <p:nvPr/>
          </p:nvSpPr>
          <p:spPr>
            <a:xfrm>
              <a:off x="4562773" y="3819525"/>
              <a:ext cx="3333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X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endParaRPr lang="en-US" sz="2100" dirty="0"/>
            </a:p>
          </p:txBody>
        </p:sp>
        <p:sp>
          <p:nvSpPr>
            <p:cNvPr id="31" name="Text 8"/>
            <p:cNvSpPr/>
            <p:nvPr/>
          </p:nvSpPr>
          <p:spPr>
            <a:xfrm>
              <a:off x="5010448" y="3819525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9DB8A8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y</a:t>
              </a:r>
              <a:endParaRPr lang="en-US" sz="210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F8EDAE-D55E-4CC8-8C16-168DF93083DA}"/>
              </a:ext>
            </a:extLst>
          </p:cNvPr>
          <p:cNvGrpSpPr/>
          <p:nvPr/>
        </p:nvGrpSpPr>
        <p:grpSpPr>
          <a:xfrm>
            <a:off x="752475" y="4476750"/>
            <a:ext cx="5238750" cy="1600200"/>
            <a:chOff x="752475" y="4476750"/>
            <a:chExt cx="5238750" cy="1600200"/>
          </a:xfrm>
        </p:grpSpPr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52475" y="4476750"/>
              <a:ext cx="5238750" cy="1600200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914400" y="4638675"/>
              <a:ext cx="400050" cy="400050"/>
            </a:xfrm>
            <a:prstGeom prst="rect">
              <a:avLst/>
            </a:prstGeom>
          </p:spPr>
        </p:pic>
        <p:pic>
          <p:nvPicPr>
            <p:cNvPr id="32" name="Image 21" descr="preencoded.pn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62025" y="4714875"/>
              <a:ext cx="304800" cy="247650"/>
            </a:xfrm>
            <a:prstGeom prst="rect">
              <a:avLst/>
            </a:prstGeom>
          </p:spPr>
        </p:pic>
        <p:sp>
          <p:nvSpPr>
            <p:cNvPr id="33" name="Text 9"/>
            <p:cNvSpPr/>
            <p:nvPr/>
          </p:nvSpPr>
          <p:spPr>
            <a:xfrm>
              <a:off x="1495425" y="4648200"/>
              <a:ext cx="43243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Prevents Overfitting</a:t>
              </a:r>
              <a:endParaRPr lang="en-US" sz="1700" dirty="0"/>
            </a:p>
          </p:txBody>
        </p:sp>
        <p:sp>
          <p:nvSpPr>
            <p:cNvPr id="34" name="Text 10"/>
            <p:cNvSpPr/>
            <p:nvPr/>
          </p:nvSpPr>
          <p:spPr>
            <a:xfrm>
              <a:off x="1495425" y="5067300"/>
              <a:ext cx="4324350" cy="8358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The regularization parameter </a:t>
              </a:r>
              <a:r>
                <a:rPr lang="en-US" sz="12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λ</a:t>
              </a: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controls the trade-off between fitting training data and keeping weights small.</a:t>
              </a:r>
              <a:endParaRPr lang="en-US" sz="1200" dirty="0"/>
            </a:p>
          </p:txBody>
        </p:sp>
      </p:grpSp>
      <p:sp>
        <p:nvSpPr>
          <p:cNvPr id="35" name="Text 11"/>
          <p:cNvSpPr/>
          <p:nvPr/>
        </p:nvSpPr>
        <p:spPr>
          <a:xfrm>
            <a:off x="7620000" y="2147888"/>
            <a:ext cx="2400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Regularization Effect</a:t>
            </a:r>
            <a:endParaRPr lang="en-US" sz="1400" dirty="0"/>
          </a:p>
        </p:txBody>
      </p:sp>
      <p:pic>
        <p:nvPicPr>
          <p:cNvPr id="36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43713" y="2512638"/>
            <a:ext cx="3448050" cy="1552575"/>
          </a:xfrm>
          <a:prstGeom prst="rect">
            <a:avLst/>
          </a:prstGeom>
        </p:spPr>
      </p:pic>
      <p:sp>
        <p:nvSpPr>
          <p:cNvPr id="37" name="Text 12"/>
          <p:cNvSpPr/>
          <p:nvPr/>
        </p:nvSpPr>
        <p:spPr>
          <a:xfrm>
            <a:off x="10113318" y="3443288"/>
            <a:ext cx="8690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Overfit (λ=0)</a:t>
            </a:r>
            <a:endParaRPr lang="en-US" sz="800" dirty="0"/>
          </a:p>
        </p:txBody>
      </p:sp>
      <p:sp>
        <p:nvSpPr>
          <p:cNvPr id="38" name="Text 13"/>
          <p:cNvSpPr/>
          <p:nvPr/>
        </p:nvSpPr>
        <p:spPr>
          <a:xfrm>
            <a:off x="10113318" y="3633788"/>
            <a:ext cx="7334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Regularized</a:t>
            </a:r>
            <a:endParaRPr lang="en-US" sz="800" dirty="0"/>
          </a:p>
        </p:txBody>
      </p:sp>
      <p:sp>
        <p:nvSpPr>
          <p:cNvPr id="39" name="Text 14"/>
          <p:cNvSpPr/>
          <p:nvPr/>
        </p:nvSpPr>
        <p:spPr>
          <a:xfrm>
            <a:off x="6410325" y="431006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Tuning Impact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6562725" y="4919663"/>
            <a:ext cx="38918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→ 0</a:t>
            </a:r>
            <a:endParaRPr lang="en-US" sz="900" dirty="0"/>
          </a:p>
        </p:txBody>
      </p:sp>
      <p:sp>
        <p:nvSpPr>
          <p:cNvPr id="41" name="Text 16"/>
          <p:cNvSpPr/>
          <p:nvPr/>
        </p:nvSpPr>
        <p:spPr>
          <a:xfrm>
            <a:off x="6357938" y="5135235"/>
            <a:ext cx="809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
(High Variance)</a:t>
            </a:r>
            <a:endParaRPr lang="en-US" sz="800" dirty="0"/>
          </a:p>
        </p:txBody>
      </p:sp>
      <p:sp>
        <p:nvSpPr>
          <p:cNvPr id="42" name="Text 17"/>
          <p:cNvSpPr/>
          <p:nvPr/>
        </p:nvSpPr>
        <p:spPr>
          <a:xfrm>
            <a:off x="8475166" y="4919663"/>
            <a:ext cx="6899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Optimal λ</a:t>
            </a:r>
            <a:endParaRPr lang="en-US" sz="900" dirty="0"/>
          </a:p>
        </p:txBody>
      </p:sp>
      <p:sp>
        <p:nvSpPr>
          <p:cNvPr id="43" name="Text 18"/>
          <p:cNvSpPr/>
          <p:nvPr/>
        </p:nvSpPr>
        <p:spPr>
          <a:xfrm>
            <a:off x="8567738" y="5148263"/>
            <a:ext cx="5048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
Model</a:t>
            </a:r>
            <a:endParaRPr lang="en-US" sz="800" dirty="0"/>
          </a:p>
        </p:txBody>
      </p:sp>
      <p:sp>
        <p:nvSpPr>
          <p:cNvPr id="44" name="Text 19"/>
          <p:cNvSpPr/>
          <p:nvPr/>
        </p:nvSpPr>
        <p:spPr>
          <a:xfrm>
            <a:off x="10684222" y="4919663"/>
            <a:ext cx="3933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7D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→ ∞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0563495" y="5119688"/>
            <a:ext cx="6381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Underfitting
(High Bias)</a:t>
            </a:r>
            <a:endParaRPr lang="en-US" sz="800" dirty="0"/>
          </a:p>
        </p:txBody>
      </p:sp>
      <p:sp>
        <p:nvSpPr>
          <p:cNvPr id="46" name="Text 21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75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2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950" y="1047750"/>
            <a:ext cx="781050" cy="571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6375" y="3714750"/>
            <a:ext cx="6153150" cy="14478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762000" y="762000"/>
            <a:ext cx="547687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the Solution</a:t>
            </a:r>
            <a:endParaRPr lang="en-US" sz="3100" dirty="0"/>
          </a:p>
        </p:txBody>
      </p:sp>
      <p:sp>
        <p:nvSpPr>
          <p:cNvPr id="15" name="Text 1"/>
          <p:cNvSpPr/>
          <p:nvPr/>
        </p:nvSpPr>
        <p:spPr>
          <a:xfrm>
            <a:off x="762000" y="1695450"/>
            <a:ext cx="40842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EC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7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A848F7A-0C9E-43DC-897C-2562EC7ACEDA}"/>
              </a:ext>
            </a:extLst>
          </p:cNvPr>
          <p:cNvGrpSpPr/>
          <p:nvPr/>
        </p:nvGrpSpPr>
        <p:grpSpPr>
          <a:xfrm>
            <a:off x="752475" y="2295525"/>
            <a:ext cx="4105275" cy="800100"/>
            <a:chOff x="752475" y="2295525"/>
            <a:chExt cx="4105275" cy="800100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475" y="2295525"/>
              <a:ext cx="4105275" cy="80010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2457450"/>
              <a:ext cx="476250" cy="476250"/>
            </a:xfrm>
            <a:prstGeom prst="rect">
              <a:avLst/>
            </a:prstGeom>
          </p:spPr>
        </p:pic>
        <p:pic>
          <p:nvPicPr>
            <p:cNvPr id="16" name="Image 12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66800" y="2590800"/>
              <a:ext cx="171450" cy="209550"/>
            </a:xfrm>
            <a:prstGeom prst="rect">
              <a:avLst/>
            </a:prstGeom>
          </p:spPr>
        </p:pic>
        <p:sp>
          <p:nvSpPr>
            <p:cNvPr id="17" name="Text 2"/>
            <p:cNvSpPr/>
            <p:nvPr/>
          </p:nvSpPr>
          <p:spPr>
            <a:xfrm>
              <a:off x="1533525" y="2466975"/>
              <a:ext cx="7429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NumPy</a:t>
              </a:r>
              <a:endParaRPr lang="en-US" sz="1400" dirty="0"/>
            </a:p>
          </p:txBody>
        </p:sp>
        <p:sp>
          <p:nvSpPr>
            <p:cNvPr id="18" name="Text 3"/>
            <p:cNvSpPr/>
            <p:nvPr/>
          </p:nvSpPr>
          <p:spPr>
            <a:xfrm>
              <a:off x="1533525" y="2733675"/>
              <a:ext cx="74295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(core math)</a:t>
              </a:r>
              <a:endParaRPr lang="en-US" sz="900" dirty="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DB97134-2779-4D5D-8FCF-7AC760275253}"/>
              </a:ext>
            </a:extLst>
          </p:cNvPr>
          <p:cNvGrpSpPr/>
          <p:nvPr/>
        </p:nvGrpSpPr>
        <p:grpSpPr>
          <a:xfrm>
            <a:off x="752475" y="3228975"/>
            <a:ext cx="4105275" cy="800100"/>
            <a:chOff x="752475" y="3228975"/>
            <a:chExt cx="4105275" cy="80010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475" y="3228975"/>
              <a:ext cx="4105275" cy="80010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3390900"/>
              <a:ext cx="476250" cy="476250"/>
            </a:xfrm>
            <a:prstGeom prst="rect">
              <a:avLst/>
            </a:prstGeom>
          </p:spPr>
        </p:pic>
        <p:pic>
          <p:nvPicPr>
            <p:cNvPr id="19" name="Image 13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47750" y="3524250"/>
              <a:ext cx="209550" cy="209550"/>
            </a:xfrm>
            <a:prstGeom prst="rect">
              <a:avLst/>
            </a:prstGeom>
          </p:spPr>
        </p:pic>
        <p:sp>
          <p:nvSpPr>
            <p:cNvPr id="20" name="Text 4"/>
            <p:cNvSpPr/>
            <p:nvPr/>
          </p:nvSpPr>
          <p:spPr>
            <a:xfrm>
              <a:off x="1533525" y="3400425"/>
              <a:ext cx="9525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pandas</a:t>
              </a:r>
              <a:endParaRPr lang="en-US" sz="1400" dirty="0"/>
            </a:p>
          </p:txBody>
        </p:sp>
        <p:sp>
          <p:nvSpPr>
            <p:cNvPr id="21" name="Text 5"/>
            <p:cNvSpPr/>
            <p:nvPr/>
          </p:nvSpPr>
          <p:spPr>
            <a:xfrm>
              <a:off x="1533525" y="3667125"/>
              <a:ext cx="95250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(data handling)</a:t>
              </a:r>
              <a:endParaRPr lang="en-US" sz="900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CD7CB4B-B72C-4879-AFD9-F4CED0C7C2FC}"/>
              </a:ext>
            </a:extLst>
          </p:cNvPr>
          <p:cNvGrpSpPr/>
          <p:nvPr/>
        </p:nvGrpSpPr>
        <p:grpSpPr>
          <a:xfrm>
            <a:off x="752475" y="4162425"/>
            <a:ext cx="4105275" cy="800100"/>
            <a:chOff x="752475" y="4162425"/>
            <a:chExt cx="4105275" cy="800100"/>
          </a:xfrm>
        </p:grpSpPr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52475" y="4162425"/>
              <a:ext cx="4105275" cy="80010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4324350"/>
              <a:ext cx="476250" cy="476250"/>
            </a:xfrm>
            <a:prstGeom prst="rect">
              <a:avLst/>
            </a:prstGeom>
          </p:spPr>
        </p:pic>
        <p:pic>
          <p:nvPicPr>
            <p:cNvPr id="22" name="Image 14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47750" y="4457700"/>
              <a:ext cx="209550" cy="209550"/>
            </a:xfrm>
            <a:prstGeom prst="rect">
              <a:avLst/>
            </a:prstGeom>
          </p:spPr>
        </p:pic>
        <p:sp>
          <p:nvSpPr>
            <p:cNvPr id="23" name="Text 6"/>
            <p:cNvSpPr/>
            <p:nvPr/>
          </p:nvSpPr>
          <p:spPr>
            <a:xfrm>
              <a:off x="1533525" y="4333875"/>
              <a:ext cx="10477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matplotlib</a:t>
              </a:r>
              <a:endParaRPr lang="en-US" sz="1400" dirty="0"/>
            </a:p>
          </p:txBody>
        </p:sp>
        <p:sp>
          <p:nvSpPr>
            <p:cNvPr id="24" name="Text 7"/>
            <p:cNvSpPr/>
            <p:nvPr/>
          </p:nvSpPr>
          <p:spPr>
            <a:xfrm>
              <a:off x="1533525" y="4600575"/>
              <a:ext cx="104775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(plots)</a:t>
              </a:r>
              <a:endParaRPr lang="en-US" sz="9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83AA3E7-B988-43B1-A954-94B89B733D70}"/>
              </a:ext>
            </a:extLst>
          </p:cNvPr>
          <p:cNvGrpSpPr/>
          <p:nvPr/>
        </p:nvGrpSpPr>
        <p:grpSpPr>
          <a:xfrm>
            <a:off x="752475" y="5095875"/>
            <a:ext cx="4105275" cy="800100"/>
            <a:chOff x="752475" y="5095875"/>
            <a:chExt cx="4105275" cy="800100"/>
          </a:xfrm>
        </p:grpSpPr>
        <p:pic>
          <p:nvPicPr>
            <p:cNvPr id="11" name="Image 9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475" y="5095875"/>
              <a:ext cx="4105275" cy="800100"/>
            </a:xfrm>
            <a:prstGeom prst="rect">
              <a:avLst/>
            </a:prstGeom>
          </p:spPr>
        </p:pic>
        <p:pic>
          <p:nvPicPr>
            <p:cNvPr id="12" name="Image 10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5257800"/>
              <a:ext cx="476250" cy="476250"/>
            </a:xfrm>
            <a:prstGeom prst="rect">
              <a:avLst/>
            </a:prstGeom>
          </p:spPr>
        </p:pic>
        <p:pic>
          <p:nvPicPr>
            <p:cNvPr id="25" name="Image 15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47750" y="5391150"/>
              <a:ext cx="209550" cy="209550"/>
            </a:xfrm>
            <a:prstGeom prst="rect">
              <a:avLst/>
            </a:prstGeom>
          </p:spPr>
        </p:pic>
        <p:sp>
          <p:nvSpPr>
            <p:cNvPr id="26" name="Text 8"/>
            <p:cNvSpPr/>
            <p:nvPr/>
          </p:nvSpPr>
          <p:spPr>
            <a:xfrm>
              <a:off x="1533525" y="5267325"/>
              <a:ext cx="990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sklearn</a:t>
              </a:r>
              <a:endParaRPr lang="en-US" sz="1400" dirty="0"/>
            </a:p>
          </p:txBody>
        </p:sp>
        <p:sp>
          <p:nvSpPr>
            <p:cNvPr id="27" name="Text 9"/>
            <p:cNvSpPr/>
            <p:nvPr/>
          </p:nvSpPr>
          <p:spPr>
            <a:xfrm>
              <a:off x="1533525" y="5534025"/>
              <a:ext cx="99060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(validation only)</a:t>
              </a:r>
              <a:endParaRPr lang="en-US" sz="900" dirty="0"/>
            </a:p>
          </p:txBody>
        </p:sp>
      </p:grpSp>
      <p:sp>
        <p:nvSpPr>
          <p:cNvPr id="28" name="Text 10"/>
          <p:cNvSpPr/>
          <p:nvPr/>
        </p:nvSpPr>
        <p:spPr>
          <a:xfrm>
            <a:off x="5303490" y="1695450"/>
            <a:ext cx="61265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EC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decisions</a:t>
            </a:r>
            <a:endParaRPr lang="en-US" sz="17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86375" y="2181225"/>
            <a:ext cx="180975" cy="171450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5570190" y="2152650"/>
            <a:ext cx="46196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Prefer </a:t>
            </a:r>
            <a:r>
              <a:rPr lang="en-US" sz="1400" dirty="0">
                <a:solidFill>
                  <a:srgbClr val="D4AF37"/>
                </a:solidFill>
                <a:highlight>
                  <a:srgbClr val="1A1A1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np.linalg.solve()</a:t>
            </a: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over explicit inverse</a:t>
            </a:r>
            <a:endParaRPr lang="en-US" sz="1400" dirty="0"/>
          </a:p>
        </p:txBody>
      </p:sp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86375" y="2609850"/>
            <a:ext cx="180975" cy="171450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5570190" y="2581275"/>
            <a:ext cx="3638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 features for gradient descent</a:t>
            </a:r>
            <a:endParaRPr lang="en-US" sz="140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86375" y="3028950"/>
            <a:ext cx="180975" cy="171450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5570190" y="3000375"/>
            <a:ext cx="3990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Exclude bias term from Ridge regularization</a:t>
            </a:r>
            <a:endParaRPr lang="en-US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B3C20EB-2323-41FA-8C66-F1EE256B7B19}"/>
              </a:ext>
            </a:extLst>
          </p:cNvPr>
          <p:cNvGrpSpPr/>
          <p:nvPr/>
        </p:nvGrpSpPr>
        <p:grpSpPr>
          <a:xfrm>
            <a:off x="5524500" y="4029075"/>
            <a:ext cx="561975" cy="809625"/>
            <a:chOff x="5524500" y="4029075"/>
            <a:chExt cx="561975" cy="809625"/>
          </a:xfrm>
        </p:grpSpPr>
        <p:pic>
          <p:nvPicPr>
            <p:cNvPr id="35" name="Image 19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524500" y="4029075"/>
              <a:ext cx="561975" cy="552450"/>
            </a:xfrm>
            <a:prstGeom prst="rect">
              <a:avLst/>
            </a:prstGeom>
          </p:spPr>
        </p:pic>
        <p:sp>
          <p:nvSpPr>
            <p:cNvPr id="36" name="Text 14"/>
            <p:cNvSpPr/>
            <p:nvPr/>
          </p:nvSpPr>
          <p:spPr>
            <a:xfrm>
              <a:off x="5541615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100" dirty="0"/>
            </a:p>
          </p:txBody>
        </p:sp>
        <p:sp>
          <p:nvSpPr>
            <p:cNvPr id="37" name="Text 15"/>
            <p:cNvSpPr/>
            <p:nvPr/>
          </p:nvSpPr>
          <p:spPr>
            <a:xfrm>
              <a:off x="5660678" y="4648200"/>
              <a:ext cx="29527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900" dirty="0"/>
            </a:p>
          </p:txBody>
        </p:sp>
      </p:grp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4352925"/>
            <a:ext cx="161925" cy="171450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08B45778-881F-4618-9169-2DDF84BD9F3D}"/>
              </a:ext>
            </a:extLst>
          </p:cNvPr>
          <p:cNvGrpSpPr/>
          <p:nvPr/>
        </p:nvGrpSpPr>
        <p:grpSpPr>
          <a:xfrm>
            <a:off x="6742212" y="4029075"/>
            <a:ext cx="723900" cy="809625"/>
            <a:chOff x="6742212" y="4029075"/>
            <a:chExt cx="723900" cy="809625"/>
          </a:xfrm>
        </p:grpSpPr>
        <p:pic>
          <p:nvPicPr>
            <p:cNvPr id="39" name="Image 21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819900" y="4029075"/>
              <a:ext cx="561975" cy="552450"/>
            </a:xfrm>
            <a:prstGeom prst="rect">
              <a:avLst/>
            </a:prstGeom>
          </p:spPr>
        </p:pic>
        <p:sp>
          <p:nvSpPr>
            <p:cNvPr id="40" name="Text 16"/>
            <p:cNvSpPr/>
            <p:nvPr/>
          </p:nvSpPr>
          <p:spPr>
            <a:xfrm>
              <a:off x="6837462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100" dirty="0"/>
            </a:p>
          </p:txBody>
        </p:sp>
        <p:sp>
          <p:nvSpPr>
            <p:cNvPr id="41" name="Text 17"/>
            <p:cNvSpPr/>
            <p:nvPr/>
          </p:nvSpPr>
          <p:spPr>
            <a:xfrm>
              <a:off x="6742212" y="4648200"/>
              <a:ext cx="72390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Preprocess</a:t>
              </a:r>
              <a:endParaRPr lang="en-US" sz="900" dirty="0"/>
            </a:p>
          </p:txBody>
        </p:sp>
      </p:grp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15250" y="4352925"/>
            <a:ext cx="161925" cy="171450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2E6C5DA8-3FC7-4055-A0C8-05D86BB35431}"/>
              </a:ext>
            </a:extLst>
          </p:cNvPr>
          <p:cNvGrpSpPr/>
          <p:nvPr/>
        </p:nvGrpSpPr>
        <p:grpSpPr>
          <a:xfrm>
            <a:off x="8133457" y="4043144"/>
            <a:ext cx="647700" cy="815727"/>
            <a:chOff x="8133457" y="4043144"/>
            <a:chExt cx="647700" cy="815727"/>
          </a:xfrm>
        </p:grpSpPr>
        <p:pic>
          <p:nvPicPr>
            <p:cNvPr id="43" name="Image 23" descr="preencoded.png"/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0A1628"/>
                </a:clrFrom>
                <a:clrTo>
                  <a:srgbClr val="0A1628">
                    <a:alpha val="0"/>
                  </a:srgbClr>
                </a:clrTo>
              </a:clrChange>
              <a:duotone>
                <a:prstClr val="black"/>
                <a:schemeClr val="accent1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172450" y="4043144"/>
              <a:ext cx="561975" cy="509806"/>
            </a:xfrm>
            <a:prstGeom prst="rect">
              <a:avLst/>
            </a:prstGeom>
          </p:spPr>
        </p:pic>
        <p:sp>
          <p:nvSpPr>
            <p:cNvPr id="44" name="Text 18"/>
            <p:cNvSpPr/>
            <p:nvPr/>
          </p:nvSpPr>
          <p:spPr>
            <a:xfrm>
              <a:off x="8135469" y="4116480"/>
              <a:ext cx="62775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6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5" name="Text 19"/>
            <p:cNvSpPr/>
            <p:nvPr/>
          </p:nvSpPr>
          <p:spPr>
            <a:xfrm>
              <a:off x="8133457" y="4628029"/>
              <a:ext cx="647700" cy="2308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
</a:t>
              </a:r>
              <a:r>
                <a:rPr lang="en-US" sz="800" b="1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(3 methods)</a:t>
              </a:r>
              <a:endParaRPr lang="en-US" sz="900" dirty="0"/>
            </a:p>
          </p:txBody>
        </p:sp>
      </p:grp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9700" y="4352925"/>
            <a:ext cx="161925" cy="171450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D1B927FB-5871-4DBD-8374-5A7184E3613C}"/>
              </a:ext>
            </a:extLst>
          </p:cNvPr>
          <p:cNvGrpSpPr/>
          <p:nvPr/>
        </p:nvGrpSpPr>
        <p:grpSpPr>
          <a:xfrm>
            <a:off x="9439275" y="4029075"/>
            <a:ext cx="561975" cy="809625"/>
            <a:chOff x="9439275" y="4029075"/>
            <a:chExt cx="561975" cy="809625"/>
          </a:xfrm>
        </p:grpSpPr>
        <p:pic>
          <p:nvPicPr>
            <p:cNvPr id="47" name="Image 25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9439275" y="4029075"/>
              <a:ext cx="561975" cy="552450"/>
            </a:xfrm>
            <a:prstGeom prst="rect">
              <a:avLst/>
            </a:prstGeom>
          </p:spPr>
        </p:pic>
        <p:sp>
          <p:nvSpPr>
            <p:cNvPr id="48" name="Text 20"/>
            <p:cNvSpPr/>
            <p:nvPr/>
          </p:nvSpPr>
          <p:spPr>
            <a:xfrm>
              <a:off x="9453116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100" dirty="0"/>
            </a:p>
          </p:txBody>
        </p:sp>
        <p:sp>
          <p:nvSpPr>
            <p:cNvPr id="49" name="Text 21"/>
            <p:cNvSpPr/>
            <p:nvPr/>
          </p:nvSpPr>
          <p:spPr>
            <a:xfrm>
              <a:off x="9448354" y="4648200"/>
              <a:ext cx="54292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Evaluate</a:t>
              </a:r>
              <a:endParaRPr lang="en-US" sz="900" dirty="0"/>
            </a:p>
          </p:txBody>
        </p:sp>
      </p:grp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39375" y="4352925"/>
            <a:ext cx="161925" cy="171450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EFEE098E-25F6-410F-9D38-D34DF8D032AD}"/>
              </a:ext>
            </a:extLst>
          </p:cNvPr>
          <p:cNvGrpSpPr/>
          <p:nvPr/>
        </p:nvGrpSpPr>
        <p:grpSpPr>
          <a:xfrm>
            <a:off x="10648950" y="4029075"/>
            <a:ext cx="552450" cy="809625"/>
            <a:chOff x="10648950" y="4029075"/>
            <a:chExt cx="552450" cy="809625"/>
          </a:xfrm>
        </p:grpSpPr>
        <p:pic>
          <p:nvPicPr>
            <p:cNvPr id="51" name="Image 27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0648950" y="4029075"/>
              <a:ext cx="552450" cy="552450"/>
            </a:xfrm>
            <a:prstGeom prst="rect">
              <a:avLst/>
            </a:prstGeom>
          </p:spPr>
        </p:pic>
        <p:sp>
          <p:nvSpPr>
            <p:cNvPr id="52" name="Text 22"/>
            <p:cNvSpPr/>
            <p:nvPr/>
          </p:nvSpPr>
          <p:spPr>
            <a:xfrm>
              <a:off x="10658475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100" dirty="0"/>
            </a:p>
          </p:txBody>
        </p:sp>
        <p:sp>
          <p:nvSpPr>
            <p:cNvPr id="53" name="Text 23"/>
            <p:cNvSpPr/>
            <p:nvPr/>
          </p:nvSpPr>
          <p:spPr>
            <a:xfrm>
              <a:off x="10663238" y="4648200"/>
              <a:ext cx="52387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Validate</a:t>
              </a:r>
              <a:endParaRPr lang="en-US" sz="900" dirty="0"/>
            </a:p>
          </p:txBody>
        </p:sp>
      </p:grpSp>
      <p:sp>
        <p:nvSpPr>
          <p:cNvPr id="54" name="Text 24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250"/>
                            </p:stCondLst>
                            <p:childTnLst>
                              <p:par>
                                <p:cTn id="2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250"/>
                            </p:stCondLst>
                            <p:childTnLst>
                              <p:par>
                                <p:cTn id="3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5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5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5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75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25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5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28" grpId="0" animBg="1"/>
      <p:bldP spid="30" grpId="0" animBg="1"/>
      <p:bldP spid="32" grpId="0" animBg="1"/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5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514475"/>
            <a:ext cx="2514600" cy="1524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6625" y="1514475"/>
            <a:ext cx="2514600" cy="1524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775" y="1514475"/>
            <a:ext cx="2514600" cy="1524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925" y="1514475"/>
            <a:ext cx="2514600" cy="1524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3324225"/>
            <a:ext cx="5200650" cy="28765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8875" y="3324225"/>
            <a:ext cx="5200650" cy="287655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762000" y="762000"/>
            <a:ext cx="441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Methods Agree</a:t>
            </a:r>
            <a:endParaRPr lang="en-US" sz="3400" dirty="0"/>
          </a:p>
        </p:txBody>
      </p:sp>
      <p:sp>
        <p:nvSpPr>
          <p:cNvPr id="12" name="Text 1"/>
          <p:cNvSpPr/>
          <p:nvPr/>
        </p:nvSpPr>
        <p:spPr>
          <a:xfrm>
            <a:off x="100012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Score</a:t>
            </a:r>
            <a:endParaRPr lang="en-US" sz="900" dirty="0"/>
          </a:p>
        </p:txBody>
      </p:sp>
      <p:sp>
        <p:nvSpPr>
          <p:cNvPr id="13" name="Text 2"/>
          <p:cNvSpPr/>
          <p:nvPr/>
        </p:nvSpPr>
        <p:spPr>
          <a:xfrm>
            <a:off x="1000125" y="2028825"/>
            <a:ext cx="20193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0.72–0.73</a:t>
            </a:r>
            <a:endParaRPr lang="en-US" sz="2500" dirty="0"/>
          </a:p>
        </p:txBody>
      </p:sp>
      <p:sp>
        <p:nvSpPr>
          <p:cNvPr id="14" name="Text 3"/>
          <p:cNvSpPr/>
          <p:nvPr/>
        </p:nvSpPr>
        <p:spPr>
          <a:xfrm>
            <a:off x="372427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MSE</a:t>
            </a:r>
            <a:endParaRPr lang="en-US" sz="900" dirty="0"/>
          </a:p>
        </p:txBody>
      </p:sp>
      <p:sp>
        <p:nvSpPr>
          <p:cNvPr id="15" name="Text 4"/>
          <p:cNvSpPr/>
          <p:nvPr/>
        </p:nvSpPr>
        <p:spPr>
          <a:xfrm>
            <a:off x="3724275" y="2028825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900</a:t>
            </a:r>
            <a:endParaRPr lang="en-US" sz="2500" dirty="0"/>
          </a:p>
        </p:txBody>
      </p:sp>
      <p:sp>
        <p:nvSpPr>
          <p:cNvPr id="16" name="Text 5"/>
          <p:cNvSpPr/>
          <p:nvPr/>
        </p:nvSpPr>
        <p:spPr>
          <a:xfrm>
            <a:off x="644842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Predictions within</a:t>
            </a:r>
            <a:endParaRPr lang="en-US" sz="900" dirty="0"/>
          </a:p>
        </p:txBody>
      </p:sp>
      <p:sp>
        <p:nvSpPr>
          <p:cNvPr id="17" name="Text 6"/>
          <p:cNvSpPr/>
          <p:nvPr/>
        </p:nvSpPr>
        <p:spPr>
          <a:xfrm>
            <a:off x="6448425" y="2028825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~30 g/km</a:t>
            </a:r>
            <a:endParaRPr lang="en-US" sz="2500" dirty="0"/>
          </a:p>
        </p:txBody>
      </p:sp>
      <p:sp>
        <p:nvSpPr>
          <p:cNvPr id="18" name="Text 7"/>
          <p:cNvSpPr/>
          <p:nvPr/>
        </p:nvSpPr>
        <p:spPr>
          <a:xfrm>
            <a:off x="917257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Weight diff vs sklearn</a:t>
            </a:r>
            <a:endParaRPr lang="en-US" sz="900" dirty="0"/>
          </a:p>
        </p:txBody>
      </p:sp>
      <p:sp>
        <p:nvSpPr>
          <p:cNvPr id="19" name="Text 8"/>
          <p:cNvSpPr/>
          <p:nvPr/>
        </p:nvSpPr>
        <p:spPr>
          <a:xfrm>
            <a:off x="9172575" y="2028825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10⁻¹²</a:t>
            </a:r>
            <a:endParaRPr lang="en-US" sz="25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 rotWithShape="1">
          <a:blip r:embed="rId8"/>
          <a:srcRect t="6309"/>
          <a:stretch/>
        </p:blipFill>
        <p:spPr>
          <a:xfrm>
            <a:off x="990600" y="3713796"/>
            <a:ext cx="4724400" cy="2248853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 rotWithShape="1">
          <a:blip r:embed="rId9"/>
          <a:srcRect t="9922"/>
          <a:stretch/>
        </p:blipFill>
        <p:spPr>
          <a:xfrm>
            <a:off x="6477000" y="3800474"/>
            <a:ext cx="4724400" cy="2162175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  <p:pic>
        <p:nvPicPr>
          <p:cNvPr id="28" name="Image 9" descr="preencoded.png">
            <a:extLst>
              <a:ext uri="{FF2B5EF4-FFF2-40B4-BE49-F238E27FC236}">
                <a16:creationId xmlns:a16="http://schemas.microsoft.com/office/drawing/2014/main" id="{E05DBA43-D118-47E6-B6EF-D53E97CFE16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94246"/>
          <a:stretch/>
        </p:blipFill>
        <p:spPr>
          <a:xfrm>
            <a:off x="990600" y="3575685"/>
            <a:ext cx="4724400" cy="138112"/>
          </a:xfrm>
          <a:prstGeom prst="rect">
            <a:avLst/>
          </a:prstGeom>
        </p:spPr>
      </p:pic>
      <p:pic>
        <p:nvPicPr>
          <p:cNvPr id="29" name="Image 10" descr="preencoded.png">
            <a:extLst>
              <a:ext uri="{FF2B5EF4-FFF2-40B4-BE49-F238E27FC236}">
                <a16:creationId xmlns:a16="http://schemas.microsoft.com/office/drawing/2014/main" id="{4C30FD2D-88AB-4FE8-A349-29F53338DD6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92857"/>
          <a:stretch/>
        </p:blipFill>
        <p:spPr>
          <a:xfrm>
            <a:off x="6448425" y="3514724"/>
            <a:ext cx="4724400" cy="1714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50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590925"/>
            <a:ext cx="2076450" cy="11239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25" y="4038600"/>
            <a:ext cx="142875" cy="1333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1225" y="1781175"/>
            <a:ext cx="7896225" cy="488632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1225" y="3590925"/>
            <a:ext cx="2009775" cy="11239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5550" y="4038600"/>
            <a:ext cx="142875" cy="1333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762000" y="762000"/>
            <a:ext cx="635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Watching the Model Learn</a:t>
            </a:r>
            <a:endParaRPr lang="en-US" sz="3400" dirty="0"/>
          </a:p>
        </p:txBody>
      </p:sp>
      <p:sp>
        <p:nvSpPr>
          <p:cNvPr id="11" name="Text 1"/>
          <p:cNvSpPr/>
          <p:nvPr/>
        </p:nvSpPr>
        <p:spPr>
          <a:xfrm>
            <a:off x="762000" y="1619250"/>
            <a:ext cx="1066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 error drop, then stable convergence.</a:t>
            </a:r>
            <a:endParaRPr lang="en-US" sz="1700" dirty="0"/>
          </a:p>
        </p:txBody>
      </p:sp>
      <p:sp>
        <p:nvSpPr>
          <p:cNvPr id="12" name="Text 2"/>
          <p:cNvSpPr/>
          <p:nvPr/>
        </p:nvSpPr>
        <p:spPr>
          <a:xfrm>
            <a:off x="938213" y="3838575"/>
            <a:ext cx="1190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 learning
phase</a:t>
            </a:r>
            <a:endParaRPr lang="en-US" sz="1200" dirty="0"/>
          </a:p>
        </p:txBody>
      </p:sp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81300" y="2381250"/>
            <a:ext cx="6696075" cy="344805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0358438" y="3838575"/>
            <a:ext cx="1123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Convergence
plateau</a:t>
            </a:r>
            <a:endParaRPr lang="en-US" sz="1200" dirty="0"/>
          </a:p>
        </p:txBody>
      </p:sp>
      <p:sp>
        <p:nvSpPr>
          <p:cNvPr id="15" name="Text 4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25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343025"/>
            <a:ext cx="133350" cy="1333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" y="1552575"/>
            <a:ext cx="10267950" cy="5305425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762000" y="762000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Math to Reality</a:t>
            </a:r>
            <a:endParaRPr lang="en-US" sz="3400" dirty="0"/>
          </a:p>
        </p:txBody>
      </p:sp>
      <p:sp>
        <p:nvSpPr>
          <p:cNvPr id="8" name="Text 1"/>
          <p:cNvSpPr/>
          <p:nvPr/>
        </p:nvSpPr>
        <p:spPr>
          <a:xfrm>
            <a:off x="1028700" y="1295400"/>
            <a:ext cx="53686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Insight: A simple linear model produces practical accuracy (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±30 g/km</a:t>
            </a: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).</a:t>
            </a:r>
            <a:endParaRPr lang="en-US" sz="110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62100" y="2152650"/>
            <a:ext cx="9067800" cy="41148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62000" y="66484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3475" y="962025"/>
            <a:ext cx="781050" cy="571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5"/>
          <a:srcRect t="17000" r="45333"/>
          <a:stretch/>
        </p:blipFill>
        <p:spPr>
          <a:xfrm>
            <a:off x="2209800" y="4693920"/>
            <a:ext cx="3905250" cy="395288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6950" y="4686300"/>
            <a:ext cx="57912" cy="7239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762000" y="762000"/>
            <a:ext cx="396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Learned</a:t>
            </a:r>
            <a:endParaRPr lang="en-US" sz="3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45F5572-7EAE-41C5-8C78-3BE1F85D3625}"/>
              </a:ext>
            </a:extLst>
          </p:cNvPr>
          <p:cNvGrpSpPr/>
          <p:nvPr/>
        </p:nvGrpSpPr>
        <p:grpSpPr>
          <a:xfrm>
            <a:off x="752475" y="2065020"/>
            <a:ext cx="3371850" cy="2686050"/>
            <a:chOff x="752475" y="1943100"/>
            <a:chExt cx="3371850" cy="2686050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2475" y="1943100"/>
              <a:ext cx="3371850" cy="268605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124075" y="2257425"/>
              <a:ext cx="628650" cy="628650"/>
            </a:xfrm>
            <a:prstGeom prst="rect">
              <a:avLst/>
            </a:prstGeom>
          </p:spPr>
        </p:pic>
        <p:pic>
          <p:nvPicPr>
            <p:cNvPr id="15" name="Image 12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295525" y="2409825"/>
              <a:ext cx="285750" cy="323850"/>
            </a:xfrm>
            <a:prstGeom prst="rect">
              <a:avLst/>
            </a:prstGeom>
          </p:spPr>
        </p:pic>
        <p:sp>
          <p:nvSpPr>
            <p:cNvPr id="16" name="Text 1"/>
            <p:cNvSpPr/>
            <p:nvPr/>
          </p:nvSpPr>
          <p:spPr>
            <a:xfrm>
              <a:off x="1238250" y="3105150"/>
              <a:ext cx="24003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Mathematical Truth</a:t>
              </a:r>
              <a:endParaRPr lang="en-US" sz="1700" dirty="0"/>
            </a:p>
          </p:txBody>
        </p:sp>
        <p:sp>
          <p:nvSpPr>
            <p:cNvPr id="17" name="Text 2"/>
            <p:cNvSpPr/>
            <p:nvPr/>
          </p:nvSpPr>
          <p:spPr>
            <a:xfrm>
              <a:off x="1076325" y="3562350"/>
              <a:ext cx="2724150" cy="742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Linear algebra fundamentals are sufficient to build regression end-to-end</a:t>
              </a:r>
              <a:endParaRPr lang="en-US" sz="110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C63B0A-EF36-494B-B750-1EF6B579CB01}"/>
              </a:ext>
            </a:extLst>
          </p:cNvPr>
          <p:cNvGrpSpPr/>
          <p:nvPr/>
        </p:nvGrpSpPr>
        <p:grpSpPr>
          <a:xfrm>
            <a:off x="4410075" y="1943100"/>
            <a:ext cx="3371850" cy="2686050"/>
            <a:chOff x="4410075" y="1943100"/>
            <a:chExt cx="3371850" cy="268605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10075" y="1943100"/>
              <a:ext cx="3371850" cy="268605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781675" y="2257425"/>
              <a:ext cx="628650" cy="628650"/>
            </a:xfrm>
            <a:prstGeom prst="rect">
              <a:avLst/>
            </a:prstGeom>
          </p:spPr>
        </p:pic>
        <p:pic>
          <p:nvPicPr>
            <p:cNvPr id="18" name="Image 13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72175" y="2409825"/>
              <a:ext cx="247650" cy="323850"/>
            </a:xfrm>
            <a:prstGeom prst="rect">
              <a:avLst/>
            </a:prstGeom>
          </p:spPr>
        </p:pic>
        <p:sp>
          <p:nvSpPr>
            <p:cNvPr id="19" name="Text 3"/>
            <p:cNvSpPr/>
            <p:nvPr/>
          </p:nvSpPr>
          <p:spPr>
            <a:xfrm>
              <a:off x="4962525" y="3105150"/>
              <a:ext cx="22669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Practical Insight</a:t>
              </a:r>
              <a:endParaRPr lang="en-US" sz="1700" dirty="0"/>
            </a:p>
          </p:txBody>
        </p:sp>
        <p:sp>
          <p:nvSpPr>
            <p:cNvPr id="20" name="Text 4"/>
            <p:cNvSpPr/>
            <p:nvPr/>
          </p:nvSpPr>
          <p:spPr>
            <a:xfrm>
              <a:off x="4733925" y="3562350"/>
              <a:ext cx="2724150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From-scratch weights match sklearn (≈ 10⁻¹² difference)</a:t>
              </a:r>
              <a:endParaRPr lang="en-US" sz="11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9747058-CEE3-43F4-97B4-786BE405390E}"/>
              </a:ext>
            </a:extLst>
          </p:cNvPr>
          <p:cNvGrpSpPr/>
          <p:nvPr/>
        </p:nvGrpSpPr>
        <p:grpSpPr>
          <a:xfrm>
            <a:off x="8067675" y="1943100"/>
            <a:ext cx="3371850" cy="2686050"/>
            <a:chOff x="8067675" y="1943100"/>
            <a:chExt cx="3371850" cy="2686050"/>
          </a:xfrm>
        </p:grpSpPr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067675" y="1943100"/>
              <a:ext cx="3371850" cy="268605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439275" y="2257425"/>
              <a:ext cx="628650" cy="628650"/>
            </a:xfrm>
            <a:prstGeom prst="rect">
              <a:avLst/>
            </a:prstGeom>
          </p:spPr>
        </p:pic>
        <p:pic>
          <p:nvPicPr>
            <p:cNvPr id="21" name="Image 14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629775" y="2409825"/>
              <a:ext cx="247650" cy="323850"/>
            </a:xfrm>
            <a:prstGeom prst="rect">
              <a:avLst/>
            </a:prstGeom>
          </p:spPr>
        </p:pic>
        <p:sp>
          <p:nvSpPr>
            <p:cNvPr id="22" name="Text 5"/>
            <p:cNvSpPr/>
            <p:nvPr/>
          </p:nvSpPr>
          <p:spPr>
            <a:xfrm>
              <a:off x="8620125" y="3105150"/>
              <a:ext cx="22669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Real-World Impact</a:t>
              </a:r>
              <a:endParaRPr lang="en-US" sz="1700" dirty="0"/>
            </a:p>
          </p:txBody>
        </p:sp>
        <p:sp>
          <p:nvSpPr>
            <p:cNvPr id="23" name="Text 6"/>
            <p:cNvSpPr/>
            <p:nvPr/>
          </p:nvSpPr>
          <p:spPr>
            <a:xfrm>
              <a:off x="8391525" y="3562350"/>
              <a:ext cx="2724150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Emission predictions support sustainability decisions</a:t>
              </a:r>
              <a:endParaRPr lang="en-US" sz="11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C351E3D-9928-4FF1-8470-7653DFECA640}"/>
              </a:ext>
            </a:extLst>
          </p:cNvPr>
          <p:cNvGrpSpPr/>
          <p:nvPr/>
        </p:nvGrpSpPr>
        <p:grpSpPr>
          <a:xfrm>
            <a:off x="4451350" y="5095875"/>
            <a:ext cx="3219450" cy="1162050"/>
            <a:chOff x="4451350" y="5095875"/>
            <a:chExt cx="3219450" cy="1162050"/>
          </a:xfrm>
        </p:grpSpPr>
        <p:pic>
          <p:nvPicPr>
            <p:cNvPr id="24" name="Image 15" descr="preencoded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451350" y="5095875"/>
              <a:ext cx="3219450" cy="1162050"/>
            </a:xfrm>
            <a:prstGeom prst="rect">
              <a:avLst/>
            </a:prstGeom>
          </p:spPr>
        </p:pic>
        <p:sp>
          <p:nvSpPr>
            <p:cNvPr id="25" name="Text 7"/>
            <p:cNvSpPr/>
            <p:nvPr/>
          </p:nvSpPr>
          <p:spPr>
            <a:xfrm>
              <a:off x="5391150" y="5534025"/>
              <a:ext cx="1714500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Green AI impact</a:t>
              </a:r>
              <a:endParaRPr lang="en-US" sz="1400" dirty="0"/>
            </a:p>
          </p:txBody>
        </p:sp>
        <p:pic>
          <p:nvPicPr>
            <p:cNvPr id="26" name="Image 16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076825" y="5562600"/>
              <a:ext cx="209550" cy="209550"/>
            </a:xfrm>
            <a:prstGeom prst="rect">
              <a:avLst/>
            </a:prstGeom>
          </p:spPr>
        </p:pic>
      </p:grpSp>
      <p:sp>
        <p:nvSpPr>
          <p:cNvPr id="27" name="Text 8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pic>
        <p:nvPicPr>
          <p:cNvPr id="33" name="Image 9" descr="preencoded.png">
            <a:extLst>
              <a:ext uri="{FF2B5EF4-FFF2-40B4-BE49-F238E27FC236}">
                <a16:creationId xmlns:a16="http://schemas.microsoft.com/office/drawing/2014/main" id="{AA547ACA-9FE4-41DF-88C3-5B46317F48F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7600" t="-10934"/>
          <a:stretch/>
        </p:blipFill>
        <p:spPr>
          <a:xfrm>
            <a:off x="6117589" y="4561840"/>
            <a:ext cx="3743325" cy="528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36276" y="0"/>
            <a:ext cx="12192000" cy="6858000"/>
          </a:xfrm>
          <a:prstGeom prst="rect">
            <a:avLst/>
          </a:prstGeom>
        </p:spPr>
      </p:pic>
      <p:sp>
        <p:nvSpPr>
          <p:cNvPr id="16" name="Text 1"/>
          <p:cNvSpPr/>
          <p:nvPr/>
        </p:nvSpPr>
        <p:spPr>
          <a:xfrm>
            <a:off x="3473955" y="2227271"/>
            <a:ext cx="514588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5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B061A25-7188-4668-8130-DF5BFD7DE53A}"/>
              </a:ext>
            </a:extLst>
          </p:cNvPr>
          <p:cNvGrpSpPr/>
          <p:nvPr/>
        </p:nvGrpSpPr>
        <p:grpSpPr>
          <a:xfrm>
            <a:off x="2672081" y="490626"/>
            <a:ext cx="6583680" cy="5240655"/>
            <a:chOff x="2867025" y="895350"/>
            <a:chExt cx="6448425" cy="5076825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6875" y="2162175"/>
              <a:ext cx="1238250" cy="7620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67025" y="3514725"/>
              <a:ext cx="323850" cy="323850"/>
            </a:xfrm>
            <a:prstGeom prst="rect">
              <a:avLst/>
            </a:prstGeom>
          </p:spPr>
        </p:pic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48475" y="3514725"/>
              <a:ext cx="323850" cy="32385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67025" y="4048125"/>
              <a:ext cx="323850" cy="323850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48475" y="4048125"/>
              <a:ext cx="323850" cy="32385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67025" y="4581525"/>
              <a:ext cx="323850" cy="323850"/>
            </a:xfrm>
            <a:prstGeom prst="rect">
              <a:avLst/>
            </a:prstGeom>
          </p:spPr>
        </p:pic>
        <p:pic>
          <p:nvPicPr>
            <p:cNvPr id="11" name="Image 9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48475" y="4581525"/>
              <a:ext cx="323850" cy="323850"/>
            </a:xfrm>
            <a:prstGeom prst="rect">
              <a:avLst/>
            </a:prstGeom>
          </p:spPr>
        </p:pic>
        <p:pic>
          <p:nvPicPr>
            <p:cNvPr id="12" name="Image 10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67025" y="5114925"/>
              <a:ext cx="323850" cy="323850"/>
            </a:xfrm>
            <a:prstGeom prst="rect">
              <a:avLst/>
            </a:prstGeom>
          </p:spPr>
        </p:pic>
        <p:pic>
          <p:nvPicPr>
            <p:cNvPr id="13" name="Image 11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48475" y="5114925"/>
              <a:ext cx="323850" cy="323850"/>
            </a:xfrm>
            <a:prstGeom prst="rect">
              <a:avLst/>
            </a:prstGeom>
          </p:spPr>
        </p:pic>
        <p:pic>
          <p:nvPicPr>
            <p:cNvPr id="14" name="Image 12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886325" y="5648325"/>
              <a:ext cx="333375" cy="323850"/>
            </a:xfrm>
            <a:prstGeom prst="rect">
              <a:avLst/>
            </a:prstGeom>
          </p:spPr>
        </p:pic>
        <p:sp>
          <p:nvSpPr>
            <p:cNvPr id="15" name="Text 0"/>
            <p:cNvSpPr/>
            <p:nvPr/>
          </p:nvSpPr>
          <p:spPr>
            <a:xfrm>
              <a:off x="3523059" y="895350"/>
              <a:ext cx="5145881" cy="1047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8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Thank You</a:t>
              </a:r>
              <a:endParaRPr lang="en-US" sz="7800" dirty="0"/>
            </a:p>
          </p:txBody>
        </p:sp>
        <p:pic>
          <p:nvPicPr>
            <p:cNvPr id="17" name="Image 13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3600450"/>
              <a:ext cx="152400" cy="152400"/>
            </a:xfrm>
            <a:prstGeom prst="rect">
              <a:avLst/>
            </a:prstGeom>
          </p:spPr>
        </p:pic>
        <p:sp>
          <p:nvSpPr>
            <p:cNvPr id="18" name="Text 2"/>
            <p:cNvSpPr/>
            <p:nvPr/>
          </p:nvSpPr>
          <p:spPr>
            <a:xfrm>
              <a:off x="3333750" y="3524250"/>
              <a:ext cx="1600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Ahmed Roshdy</a:t>
              </a:r>
              <a:endParaRPr lang="en-US" sz="1700" dirty="0"/>
            </a:p>
          </p:txBody>
        </p:sp>
        <p:pic>
          <p:nvPicPr>
            <p:cNvPr id="19" name="Image 14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3600450"/>
              <a:ext cx="152400" cy="152400"/>
            </a:xfrm>
            <a:prstGeom prst="rect">
              <a:avLst/>
            </a:prstGeom>
          </p:spPr>
        </p:pic>
        <p:sp>
          <p:nvSpPr>
            <p:cNvPr id="20" name="Text 3"/>
            <p:cNvSpPr/>
            <p:nvPr/>
          </p:nvSpPr>
          <p:spPr>
            <a:xfrm>
              <a:off x="7315200" y="35242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Khalid Osam</a:t>
              </a:r>
              <a:endParaRPr lang="en-US" sz="1700" dirty="0"/>
            </a:p>
          </p:txBody>
        </p:sp>
        <p:pic>
          <p:nvPicPr>
            <p:cNvPr id="21" name="Image 15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4133850"/>
              <a:ext cx="152400" cy="152400"/>
            </a:xfrm>
            <a:prstGeom prst="rect">
              <a:avLst/>
            </a:prstGeom>
          </p:spPr>
        </p:pic>
        <p:sp>
          <p:nvSpPr>
            <p:cNvPr id="22" name="Text 4"/>
            <p:cNvSpPr/>
            <p:nvPr/>
          </p:nvSpPr>
          <p:spPr>
            <a:xfrm>
              <a:off x="3333750" y="40576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Omar Shaker</a:t>
              </a:r>
              <a:endParaRPr lang="en-US" sz="1700" dirty="0"/>
            </a:p>
          </p:txBody>
        </p:sp>
        <p:pic>
          <p:nvPicPr>
            <p:cNvPr id="23" name="Image 16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4133850"/>
              <a:ext cx="152400" cy="152400"/>
            </a:xfrm>
            <a:prstGeom prst="rect">
              <a:avLst/>
            </a:prstGeom>
          </p:spPr>
        </p:pic>
        <p:sp>
          <p:nvSpPr>
            <p:cNvPr id="24" name="Text 5"/>
            <p:cNvSpPr/>
            <p:nvPr/>
          </p:nvSpPr>
          <p:spPr>
            <a:xfrm>
              <a:off x="7315200" y="40576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Yousef Hany</a:t>
              </a:r>
              <a:endParaRPr lang="en-US" sz="1700" dirty="0"/>
            </a:p>
          </p:txBody>
        </p:sp>
        <p:pic>
          <p:nvPicPr>
            <p:cNvPr id="25" name="Image 17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4667250"/>
              <a:ext cx="152400" cy="152400"/>
            </a:xfrm>
            <a:prstGeom prst="rect">
              <a:avLst/>
            </a:prstGeom>
          </p:spPr>
        </p:pic>
        <p:sp>
          <p:nvSpPr>
            <p:cNvPr id="26" name="Text 6"/>
            <p:cNvSpPr/>
            <p:nvPr/>
          </p:nvSpPr>
          <p:spPr>
            <a:xfrm>
              <a:off x="3333750" y="4591050"/>
              <a:ext cx="13335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Mark Tamer</a:t>
              </a:r>
              <a:endParaRPr lang="en-US" sz="1700" dirty="0"/>
            </a:p>
          </p:txBody>
        </p:sp>
        <p:pic>
          <p:nvPicPr>
            <p:cNvPr id="27" name="Image 18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4667250"/>
              <a:ext cx="152400" cy="152400"/>
            </a:xfrm>
            <a:prstGeom prst="rect">
              <a:avLst/>
            </a:prstGeom>
          </p:spPr>
        </p:pic>
        <p:sp>
          <p:nvSpPr>
            <p:cNvPr id="28" name="Text 7"/>
            <p:cNvSpPr/>
            <p:nvPr/>
          </p:nvSpPr>
          <p:spPr>
            <a:xfrm>
              <a:off x="7315200" y="4591050"/>
              <a:ext cx="1600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Hassan Eslam</a:t>
              </a:r>
              <a:endParaRPr lang="en-US" sz="1700" dirty="0"/>
            </a:p>
          </p:txBody>
        </p:sp>
        <p:pic>
          <p:nvPicPr>
            <p:cNvPr id="29" name="Image 19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5200650"/>
              <a:ext cx="152400" cy="152400"/>
            </a:xfrm>
            <a:prstGeom prst="rect">
              <a:avLst/>
            </a:prstGeom>
          </p:spPr>
        </p:pic>
        <p:sp>
          <p:nvSpPr>
            <p:cNvPr id="30" name="Text 8"/>
            <p:cNvSpPr/>
            <p:nvPr/>
          </p:nvSpPr>
          <p:spPr>
            <a:xfrm>
              <a:off x="3333750" y="51244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Carlos Emad</a:t>
              </a:r>
              <a:endParaRPr lang="en-US" sz="1700" dirty="0"/>
            </a:p>
          </p:txBody>
        </p:sp>
        <p:pic>
          <p:nvPicPr>
            <p:cNvPr id="31" name="Image 20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5200650"/>
              <a:ext cx="152400" cy="152400"/>
            </a:xfrm>
            <a:prstGeom prst="rect">
              <a:avLst/>
            </a:prstGeom>
          </p:spPr>
        </p:pic>
        <p:sp>
          <p:nvSpPr>
            <p:cNvPr id="32" name="Text 9"/>
            <p:cNvSpPr/>
            <p:nvPr/>
          </p:nvSpPr>
          <p:spPr>
            <a:xfrm>
              <a:off x="7315200" y="5124450"/>
              <a:ext cx="20002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Mohamed Elsayed</a:t>
              </a:r>
              <a:endParaRPr lang="en-US" sz="1700" dirty="0"/>
            </a:p>
          </p:txBody>
        </p:sp>
        <p:pic>
          <p:nvPicPr>
            <p:cNvPr id="33" name="Image 21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972050" y="5734050"/>
              <a:ext cx="161925" cy="152400"/>
            </a:xfrm>
            <a:prstGeom prst="rect">
              <a:avLst/>
            </a:prstGeom>
          </p:spPr>
        </p:pic>
        <p:sp>
          <p:nvSpPr>
            <p:cNvPr id="34" name="Text 10"/>
            <p:cNvSpPr/>
            <p:nvPr/>
          </p:nvSpPr>
          <p:spPr>
            <a:xfrm>
              <a:off x="5351163" y="56578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Ahmed Fouad</a:t>
              </a:r>
              <a:endParaRPr lang="en-US" sz="1700" dirty="0"/>
            </a:p>
          </p:txBody>
        </p:sp>
      </p:grpSp>
      <p:pic>
        <p:nvPicPr>
          <p:cNvPr id="43" name="Picture 42">
            <a:extLst>
              <a:ext uri="{FF2B5EF4-FFF2-40B4-BE49-F238E27FC236}">
                <a16:creationId xmlns:a16="http://schemas.microsoft.com/office/drawing/2014/main" id="{AC5A4150-F22A-4550-A87A-3AAC9C57BE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7944" y="5155757"/>
            <a:ext cx="1628114" cy="16281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586</Words>
  <Application>Microsoft Office PowerPoint</Application>
  <PresentationFormat>Widescreen</PresentationFormat>
  <Paragraphs>177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Ahmed Mohammed</dc:creator>
  <cp:lastModifiedBy>Ahmed Mohammed</cp:lastModifiedBy>
  <cp:revision>4</cp:revision>
  <dcterms:created xsi:type="dcterms:W3CDTF">2026-05-08T15:51:10Z</dcterms:created>
  <dcterms:modified xsi:type="dcterms:W3CDTF">2026-05-08T16:02:42Z</dcterms:modified>
</cp:coreProperties>
</file>