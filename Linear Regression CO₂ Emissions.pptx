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059E9-AE51-4111-BB13-4325785E60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2F90E-E022-4033-BF67-B3E356CD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5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D2F0-C3FD-433D-AA96-F11E845C7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53F75-C688-43DA-9A51-04CCFF082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A18D8-6882-4A94-B473-EF1407F1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141D7-3F6E-4A97-B2E9-2C79E705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680C8-C505-465C-BE62-931E51D4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8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C6B7-47DF-4269-8B7A-B9029CCE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AB66B-B855-467D-847A-F1F8FA89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934F-1B71-4D6C-B6A7-22D147FF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A4F58-E984-493E-8B7B-AE2AC57E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7A8BD-7610-4260-8DC9-147A68C4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5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5577-3E58-4068-9FAD-2376CE43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C3E9F-B5A6-4FF2-BCF4-7E664317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B1B24-FD73-4003-A20A-99333C673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B8D8B-2F34-4ED5-B256-13673FAC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19BC-0ADE-4481-8979-D6BA861F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8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849F-0AD2-4CB2-B077-DC91FA27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0324-1897-4A69-A6B2-5D1000C40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64349-2EF9-4B1B-8786-0489CDAE3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8A715-9795-4B97-8731-80B84CFB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C1D27-3953-4A70-AA11-3EA7B19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D0921-93C1-4608-96B2-30CC6A19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5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23DC-BA8C-4CCE-A57D-C352EA04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B6DDF-26B4-478F-B745-761ACB62A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A6C00-0BF9-4C2D-BF60-11D8D5B02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38E1D-32C3-4E73-A9C4-2EEE55272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D414A-7133-4A34-96B9-9CCD7FCE9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80720-9444-4895-88D9-8DD6B685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710D2-C549-4C9F-95FA-990C68CE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8786B-1D1A-4B97-97C5-AE98685D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8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F853-B2CD-436C-9092-E885E670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3CD29-33E9-4B76-ADF3-E8D4D980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11806-E022-4AE6-952A-C71002CA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062CE-1AC8-4DF8-84A3-1CCE7BF9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1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A208D-A99B-4AEB-9663-C22B228B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50A1C-9FAE-408A-AC1C-40B60F56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C9C89-A03D-473A-A3FF-7078B0C1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51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3AAE-D666-4186-96F6-4B1B12B2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126E1-82DF-4862-B9F1-BD4A4E77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2F987-42AC-4744-A4CA-7813374D2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C7908-8924-4C45-9042-DA96CA6E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7768B-06DD-4DAB-8481-88D5B2E3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7691C-F36D-4B24-991F-A62CA9F2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65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06C2-D586-482E-98D3-219A7C04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CF21D-50E4-4D7D-9114-F0B0B3C97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57502-E581-4218-A7A4-9079EF2E0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A3DAA-F749-405A-80E9-05B4F350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926CF-9D05-469C-93E3-D76D34F3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4AD90-D7A7-4EBC-851C-4C00EC33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6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546E-C8F0-48FA-9DA7-B4601E92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B7E02-E9D2-49D6-B0DA-91F9E701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186C-814B-4A37-9409-BBC469B3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1A16E-040E-4302-AC9A-F8B708B3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2771C-389A-4DE4-A2DB-A84F7F54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1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70C0F-8A0D-4D28-A719-1B8FB7A58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ED1E2-15C0-4FD2-946A-66AD51E11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27BA1-7FDE-4737-BC3F-D141CDC0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48B6-C76A-42BA-B45E-621616AB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41908-D2F7-404C-9EC9-2F798AAA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05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49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72FF6-E90E-4EDF-B782-73C516A8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C7F51-EBFD-47DC-8CF6-DBE40A6E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AB9B-F14D-4546-80F7-73DF1D263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71A0D-A84E-40CE-9DF5-C1B87DF3F7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9FA1D-A560-4A25-AC10-16A956D84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9978A-A661-4DDA-BC9A-FF8DBE8D0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2DDDF-EA96-4653-94B5-0C15C9F4E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microsoft.com/office/2007/relationships/hdphoto" Target="../media/hdphoto1.wdp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7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7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14.png"/><Relationship Id="rId10" Type="http://schemas.openxmlformats.org/officeDocument/2006/relationships/image" Target="../media/image87.png"/><Relationship Id="rId19" Type="http://schemas.openxmlformats.org/officeDocument/2006/relationships/image" Target="../media/image95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81.png"/><Relationship Id="rId9" Type="http://schemas.openxmlformats.org/officeDocument/2006/relationships/image" Target="../media/image10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6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7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6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C3D989-9D00-40F8-B4FC-B71CBAC92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53" y="4318923"/>
            <a:ext cx="1238250" cy="1047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543425"/>
            <a:ext cx="5019675" cy="1714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0075" y="1934101"/>
            <a:ext cx="7620000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from Scratch</a:t>
            </a:r>
            <a:endParaRPr lang="en-US" sz="5100" dirty="0"/>
          </a:p>
        </p:txBody>
      </p:sp>
      <p:sp>
        <p:nvSpPr>
          <p:cNvPr id="9" name="Text 1"/>
          <p:cNvSpPr/>
          <p:nvPr/>
        </p:nvSpPr>
        <p:spPr>
          <a:xfrm>
            <a:off x="600075" y="3480723"/>
            <a:ext cx="7620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D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CO₂ Emissions with Pure Mathematics</a:t>
            </a:r>
            <a:endParaRPr lang="en-US" sz="2500" dirty="0"/>
          </a:p>
        </p:txBody>
      </p:sp>
      <p:sp>
        <p:nvSpPr>
          <p:cNvPr id="10" name="Text 2"/>
          <p:cNvSpPr/>
          <p:nvPr/>
        </p:nvSpPr>
        <p:spPr>
          <a:xfrm>
            <a:off x="6819900" y="47910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23 — Linear Algebra for Computer Science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6819900" y="51339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 International University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6819900" y="54387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Instructor: Dr. Doaa Elsakout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6819900" y="5743575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2025/2026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714500"/>
            <a:ext cx="51625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457575"/>
            <a:ext cx="400050" cy="409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029075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010150"/>
            <a:ext cx="5162550" cy="876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225" y="1219200"/>
            <a:ext cx="5734050" cy="51625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599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CO₂ Emissions Matter</a:t>
            </a:r>
            <a:endParaRPr lang="en-US" sz="3400" dirty="0"/>
          </a:p>
        </p:txBody>
      </p:sp>
      <p:sp>
        <p:nvSpPr>
          <p:cNvPr id="11" name="Text 1"/>
          <p:cNvSpPr/>
          <p:nvPr/>
        </p:nvSpPr>
        <p:spPr>
          <a:xfrm>
            <a:off x="1000125" y="1962150"/>
            <a:ext cx="46672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 accounts for a major share of global emissions; predicting vehicle CO₂ supports sustainability decisions.</a:t>
            </a:r>
            <a:endParaRPr lang="en-US" sz="140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562350"/>
            <a:ext cx="190500" cy="20002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266825" y="3568303"/>
            <a:ext cx="46101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Emissions depend on engine characteristics</a:t>
            </a:r>
            <a:endParaRPr lang="en-US" sz="1200" dirty="0"/>
          </a:p>
        </p:txBody>
      </p:sp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133850"/>
            <a:ext cx="190500" cy="20002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295400" y="4005262"/>
            <a:ext cx="4610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enables policy/standards, consumer awareness, and fleet planning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923925" y="5353050"/>
            <a:ext cx="14159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specs</a:t>
            </a:r>
            <a:endParaRPr lang="en-US" sz="9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0300" y="5362575"/>
            <a:ext cx="161925" cy="17145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2625626" y="5257800"/>
            <a:ext cx="141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CO₂ prediction model</a:t>
            </a:r>
            <a:endParaRPr lang="en-US" sz="9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05275" y="5362575"/>
            <a:ext cx="161925" cy="17145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4327475" y="5181600"/>
            <a:ext cx="141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impact</a:t>
            </a:r>
            <a:endParaRPr lang="en-US" sz="900" dirty="0"/>
          </a:p>
        </p:txBody>
      </p:sp>
      <p:sp>
        <p:nvSpPr>
          <p:cNvPr id="21" name="Text 7"/>
          <p:cNvSpPr/>
          <p:nvPr/>
        </p:nvSpPr>
        <p:spPr>
          <a:xfrm>
            <a:off x="4327475" y="5410200"/>
            <a:ext cx="14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(policy / product / consumer)</a:t>
            </a:r>
            <a:endParaRPr lang="en-US" sz="800" dirty="0"/>
          </a:p>
        </p:txBody>
      </p:sp>
      <p:sp>
        <p:nvSpPr>
          <p:cNvPr id="22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8A020A3A-BEA4-4DEB-ACCC-9F7A111AB352}"/>
              </a:ext>
            </a:extLst>
          </p:cNvPr>
          <p:cNvSpPr/>
          <p:nvPr/>
        </p:nvSpPr>
        <p:spPr>
          <a:xfrm>
            <a:off x="7972425" y="77216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175" y="971550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781175"/>
            <a:ext cx="5162550" cy="12668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019300"/>
            <a:ext cx="781050" cy="790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286125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971925"/>
            <a:ext cx="400050" cy="409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772025"/>
            <a:ext cx="5162550" cy="1047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1225" y="1219200"/>
            <a:ext cx="5734050" cy="51625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762000"/>
            <a:ext cx="8048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Data: Canadian Vehicles</a:t>
            </a:r>
            <a:endParaRPr lang="en-US" sz="3400" dirty="0"/>
          </a:p>
        </p:txBody>
      </p:sp>
      <p:sp>
        <p:nvSpPr>
          <p:cNvPr id="12" name="Text 1"/>
          <p:cNvSpPr/>
          <p:nvPr/>
        </p:nvSpPr>
        <p:spPr>
          <a:xfrm>
            <a:off x="1990725" y="2112169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1990725" y="2455069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~7,385 vehicle records</a:t>
            </a:r>
            <a:endParaRPr lang="en-US" sz="1400" dirty="0"/>
          </a:p>
        </p:txBody>
      </p:sp>
      <p:sp>
        <p:nvSpPr>
          <p:cNvPr id="14" name="Text 3"/>
          <p:cNvSpPr/>
          <p:nvPr/>
        </p:nvSpPr>
        <p:spPr>
          <a:xfrm>
            <a:off x="895350" y="3384947"/>
            <a:ext cx="9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dirty="0"/>
          </a:p>
        </p:txBody>
      </p:sp>
      <p:sp>
        <p:nvSpPr>
          <p:cNvPr id="15" name="Text 4"/>
          <p:cNvSpPr/>
          <p:nvPr/>
        </p:nvSpPr>
        <p:spPr>
          <a:xfrm>
            <a:off x="1295400" y="3264694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1295400" y="3569494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Size (L), Cylinders</a:t>
            </a:r>
            <a:endParaRPr lang="en-US" sz="1100" dirty="0"/>
          </a:p>
        </p:txBody>
      </p:sp>
      <p:sp>
        <p:nvSpPr>
          <p:cNvPr id="17" name="Text 6"/>
          <p:cNvSpPr/>
          <p:nvPr/>
        </p:nvSpPr>
        <p:spPr>
          <a:xfrm>
            <a:off x="895350" y="4055269"/>
            <a:ext cx="9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</p:txBody>
      </p:sp>
      <p:sp>
        <p:nvSpPr>
          <p:cNvPr id="18" name="Text 7"/>
          <p:cNvSpPr/>
          <p:nvPr/>
        </p:nvSpPr>
        <p:spPr>
          <a:xfrm>
            <a:off x="1295400" y="3950494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1295400" y="4255294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CO₂ emissions (g/km)</a:t>
            </a:r>
            <a:endParaRPr lang="en-US" sz="1100" dirty="0"/>
          </a:p>
        </p:txBody>
      </p:sp>
      <p:sp>
        <p:nvSpPr>
          <p:cNvPr id="20" name="Text 9"/>
          <p:cNvSpPr/>
          <p:nvPr/>
        </p:nvSpPr>
        <p:spPr>
          <a:xfrm>
            <a:off x="1028700" y="5017294"/>
            <a:ext cx="46482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intuitive features can explain a meaningful portion of emission variance.</a:t>
            </a:r>
            <a:endParaRPr lang="en-US" sz="1200" dirty="0"/>
          </a:p>
        </p:txBody>
      </p:sp>
      <p:sp>
        <p:nvSpPr>
          <p:cNvPr id="21" name="Text 10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B4394691-7694-492F-98AA-2B2A87FCF530}"/>
              </a:ext>
            </a:extLst>
          </p:cNvPr>
          <p:cNvSpPr/>
          <p:nvPr/>
        </p:nvSpPr>
        <p:spPr>
          <a:xfrm>
            <a:off x="9653588" y="771525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23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571625"/>
            <a:ext cx="512445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7716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076575"/>
            <a:ext cx="5124450" cy="1447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2766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810125"/>
            <a:ext cx="5124450" cy="1219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0101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533525"/>
            <a:ext cx="5124450" cy="1752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075" y="3571875"/>
            <a:ext cx="5124450" cy="24955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9025" y="4305300"/>
            <a:ext cx="2876550" cy="1447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3825" y="54102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0075" y="52197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6325" y="493395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2575" y="502920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8825" y="455295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29825" y="4362450"/>
            <a:ext cx="133350" cy="1333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62000" y="762000"/>
            <a:ext cx="6200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Algebra Foundations</a:t>
            </a:r>
            <a:endParaRPr lang="en-US" sz="3400" dirty="0"/>
          </a:p>
        </p:txBody>
      </p:sp>
      <p:pic>
        <p:nvPicPr>
          <p:cNvPr id="21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5375" y="1905000"/>
            <a:ext cx="190500" cy="209550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1571625" y="178117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&amp; Matrices</a:t>
            </a:r>
            <a:endParaRPr lang="en-US" sz="1400" dirty="0"/>
          </a:p>
        </p:txBody>
      </p:sp>
      <p:sp>
        <p:nvSpPr>
          <p:cNvPr id="23" name="Text 2"/>
          <p:cNvSpPr/>
          <p:nvPr/>
        </p:nvSpPr>
        <p:spPr>
          <a:xfrm>
            <a:off x="1571625" y="2124075"/>
            <a:ext cx="4095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Representing data as </a:t>
            </a: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(features), </a:t>
            </a: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(targets), and </a:t>
            </a: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(weights).</a:t>
            </a:r>
            <a:endParaRPr lang="en-US" sz="1100" dirty="0"/>
          </a:p>
        </p:txBody>
      </p:sp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850" y="3409950"/>
            <a:ext cx="209550" cy="209550"/>
          </a:xfrm>
          <a:prstGeom prst="rect">
            <a:avLst/>
          </a:prstGeom>
        </p:spPr>
      </p:pic>
      <p:sp>
        <p:nvSpPr>
          <p:cNvPr id="25" name="Text 3"/>
          <p:cNvSpPr/>
          <p:nvPr/>
        </p:nvSpPr>
        <p:spPr>
          <a:xfrm>
            <a:off x="1571625" y="328612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Minimizing Error</a:t>
            </a:r>
            <a:endParaRPr lang="en-US" sz="1400" dirty="0"/>
          </a:p>
        </p:txBody>
      </p:sp>
      <p:sp>
        <p:nvSpPr>
          <p:cNvPr id="26" name="Text 4"/>
          <p:cNvSpPr/>
          <p:nvPr/>
        </p:nvSpPr>
        <p:spPr>
          <a:xfrm>
            <a:off x="1571625" y="3629025"/>
            <a:ext cx="4095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the optimal weights to reduce the difference between predictions and actual values.</a:t>
            </a:r>
            <a:endParaRPr lang="en-US" sz="1100" dirty="0"/>
          </a:p>
        </p:txBody>
      </p:sp>
      <p:pic>
        <p:nvPicPr>
          <p:cNvPr id="27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5850" y="5143500"/>
            <a:ext cx="209550" cy="209550"/>
          </a:xfrm>
          <a:prstGeom prst="rect">
            <a:avLst/>
          </a:prstGeom>
        </p:spPr>
      </p:pic>
      <p:sp>
        <p:nvSpPr>
          <p:cNvPr id="28" name="Text 5"/>
          <p:cNvSpPr/>
          <p:nvPr/>
        </p:nvSpPr>
        <p:spPr>
          <a:xfrm>
            <a:off x="1571625" y="501967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Least Squares Concept</a:t>
            </a:r>
            <a:endParaRPr lang="en-US" sz="1400" dirty="0"/>
          </a:p>
        </p:txBody>
      </p:sp>
      <p:sp>
        <p:nvSpPr>
          <p:cNvPr id="29" name="Text 6"/>
          <p:cNvSpPr/>
          <p:nvPr/>
        </p:nvSpPr>
        <p:spPr>
          <a:xfrm>
            <a:off x="1571625" y="5362575"/>
            <a:ext cx="4095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Minimizing the sum of squared residuals to find the best-fitting line.</a:t>
            </a:r>
            <a:endParaRPr lang="en-US" sz="1100" dirty="0"/>
          </a:p>
        </p:txBody>
      </p:sp>
      <p:sp>
        <p:nvSpPr>
          <p:cNvPr id="30" name="Text 7"/>
          <p:cNvSpPr/>
          <p:nvPr/>
        </p:nvSpPr>
        <p:spPr>
          <a:xfrm>
            <a:off x="7777163" y="1857375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Representation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798195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100" dirty="0"/>
          </a:p>
        </p:txBody>
      </p:sp>
      <p:sp>
        <p:nvSpPr>
          <p:cNvPr id="32" name="Text 9"/>
          <p:cNvSpPr/>
          <p:nvPr/>
        </p:nvSpPr>
        <p:spPr>
          <a:xfrm>
            <a:off x="830580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100" dirty="0"/>
          </a:p>
        </p:txBody>
      </p:sp>
      <p:sp>
        <p:nvSpPr>
          <p:cNvPr id="33" name="Text 10"/>
          <p:cNvSpPr/>
          <p:nvPr/>
        </p:nvSpPr>
        <p:spPr>
          <a:xfrm>
            <a:off x="862965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100" dirty="0"/>
          </a:p>
        </p:txBody>
      </p:sp>
      <p:sp>
        <p:nvSpPr>
          <p:cNvPr id="34" name="Text 11"/>
          <p:cNvSpPr/>
          <p:nvPr/>
        </p:nvSpPr>
        <p:spPr>
          <a:xfrm>
            <a:off x="895350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100" dirty="0"/>
          </a:p>
        </p:txBody>
      </p:sp>
      <p:sp>
        <p:nvSpPr>
          <p:cNvPr id="35" name="Text 12"/>
          <p:cNvSpPr/>
          <p:nvPr/>
        </p:nvSpPr>
        <p:spPr>
          <a:xfrm>
            <a:off x="927735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100" dirty="0"/>
          </a:p>
        </p:txBody>
      </p:sp>
      <p:sp>
        <p:nvSpPr>
          <p:cNvPr id="36" name="Text 13"/>
          <p:cNvSpPr/>
          <p:nvPr/>
        </p:nvSpPr>
        <p:spPr>
          <a:xfrm>
            <a:off x="9601200" y="2276475"/>
            <a:ext cx="17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100" dirty="0"/>
          </a:p>
        </p:txBody>
      </p:sp>
      <p:sp>
        <p:nvSpPr>
          <p:cNvPr id="37" name="Text 14"/>
          <p:cNvSpPr/>
          <p:nvPr/>
        </p:nvSpPr>
        <p:spPr>
          <a:xfrm>
            <a:off x="7581900" y="2771775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Features × Weights + Bias</a:t>
            </a:r>
            <a:endParaRPr lang="en-US" sz="900" dirty="0"/>
          </a:p>
        </p:txBody>
      </p:sp>
      <p:sp>
        <p:nvSpPr>
          <p:cNvPr id="38" name="Text 15"/>
          <p:cNvSpPr/>
          <p:nvPr/>
        </p:nvSpPr>
        <p:spPr>
          <a:xfrm>
            <a:off x="8092232" y="3895725"/>
            <a:ext cx="15701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→ Line Fit</a:t>
            </a:r>
            <a:endParaRPr lang="en-US" sz="1200" dirty="0"/>
          </a:p>
        </p:txBody>
      </p:sp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8075" y="4317626"/>
            <a:ext cx="2857500" cy="1428750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34A8BD20-7316-475A-80E1-CEC770D3D697}"/>
              </a:ext>
            </a:extLst>
          </p:cNvPr>
          <p:cNvSpPr/>
          <p:nvPr/>
        </p:nvSpPr>
        <p:spPr>
          <a:xfrm>
            <a:off x="7780973" y="758638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Fouad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1943100"/>
            <a:ext cx="5295900" cy="1200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81225"/>
            <a:ext cx="552450" cy="5619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1743075"/>
            <a:ext cx="5295900" cy="411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2400300"/>
            <a:ext cx="1238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350" y="2400300"/>
            <a:ext cx="1238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7650" y="3314700"/>
            <a:ext cx="18478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6550" y="4229100"/>
            <a:ext cx="1238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8350" y="4229100"/>
            <a:ext cx="1238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1950" y="4953000"/>
            <a:ext cx="1619250" cy="8572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762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Equation</a:t>
            </a:r>
            <a:endParaRPr lang="en-US" sz="3400" dirty="0"/>
          </a:p>
        </p:txBody>
      </p:sp>
      <p:pic>
        <p:nvPicPr>
          <p:cNvPr id="1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" y="2333625"/>
            <a:ext cx="247650" cy="257175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1476375" y="2194322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closed-form solution</a:t>
            </a:r>
            <a:endParaRPr lang="en-US" sz="1700" dirty="0"/>
          </a:p>
        </p:txBody>
      </p:sp>
      <p:sp>
        <p:nvSpPr>
          <p:cNvPr id="18" name="Text 2"/>
          <p:cNvSpPr/>
          <p:nvPr/>
        </p:nvSpPr>
        <p:spPr>
          <a:xfrm>
            <a:off x="1476375" y="2613422"/>
            <a:ext cx="4076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once, get optimal weights.</a:t>
            </a:r>
            <a:endParaRPr lang="en-US" sz="12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1514678-4DF4-442E-894E-CEC7DCC5092E}"/>
              </a:ext>
            </a:extLst>
          </p:cNvPr>
          <p:cNvGrpSpPr/>
          <p:nvPr/>
        </p:nvGrpSpPr>
        <p:grpSpPr>
          <a:xfrm>
            <a:off x="96545" y="3794521"/>
            <a:ext cx="5867400" cy="1971675"/>
            <a:chOff x="228600" y="3415903"/>
            <a:chExt cx="5867400" cy="1971675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28600" y="3415903"/>
              <a:ext cx="5867400" cy="1971675"/>
            </a:xfrm>
            <a:prstGeom prst="rect">
              <a:avLst/>
            </a:prstGeom>
          </p:spPr>
        </p:pic>
        <p:sp>
          <p:nvSpPr>
            <p:cNvPr id="19" name="Text 3"/>
            <p:cNvSpPr/>
            <p:nvPr/>
          </p:nvSpPr>
          <p:spPr>
            <a:xfrm>
              <a:off x="771525" y="3964781"/>
              <a:ext cx="47815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Formula</a:t>
              </a:r>
              <a:endParaRPr lang="en-US" sz="2400" dirty="0"/>
            </a:p>
          </p:txBody>
        </p:sp>
        <p:sp>
          <p:nvSpPr>
            <p:cNvPr id="20" name="Text 4"/>
            <p:cNvSpPr/>
            <p:nvPr/>
          </p:nvSpPr>
          <p:spPr>
            <a:xfrm>
              <a:off x="1497806" y="4460081"/>
              <a:ext cx="226814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2D7D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</a:t>
              </a:r>
              <a:endParaRPr lang="en-US" sz="2500" dirty="0"/>
            </a:p>
          </p:txBody>
        </p:sp>
        <p:sp>
          <p:nvSpPr>
            <p:cNvPr id="21" name="Text 5"/>
            <p:cNvSpPr/>
            <p:nvPr/>
          </p:nvSpPr>
          <p:spPr>
            <a:xfrm>
              <a:off x="1877020" y="4460081"/>
              <a:ext cx="226814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</a:t>
              </a:r>
              <a:endParaRPr lang="en-US" sz="2500" dirty="0"/>
            </a:p>
          </p:txBody>
        </p:sp>
        <p:sp>
          <p:nvSpPr>
            <p:cNvPr id="22" name="Text 6"/>
            <p:cNvSpPr/>
            <p:nvPr/>
          </p:nvSpPr>
          <p:spPr>
            <a:xfrm>
              <a:off x="2256234" y="4460081"/>
              <a:ext cx="164246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(X</a:t>
              </a:r>
              <a:r>
                <a:rPr lang="en-US" sz="19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</a:t>
              </a:r>
              <a:r>
                <a:rPr lang="en-US" sz="25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X)</a:t>
              </a:r>
              <a:r>
                <a:rPr lang="en-US" sz="19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2500" dirty="0"/>
            </a:p>
          </p:txBody>
        </p:sp>
        <p:sp>
          <p:nvSpPr>
            <p:cNvPr id="23" name="Text 7"/>
            <p:cNvSpPr/>
            <p:nvPr/>
          </p:nvSpPr>
          <p:spPr>
            <a:xfrm>
              <a:off x="4051102" y="4460081"/>
              <a:ext cx="396478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X</a:t>
              </a:r>
              <a:r>
                <a:rPr lang="en-US" sz="19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</a:t>
              </a:r>
              <a:endParaRPr lang="en-US" sz="2500" dirty="0"/>
            </a:p>
          </p:txBody>
        </p:sp>
        <p:sp>
          <p:nvSpPr>
            <p:cNvPr id="24" name="Text 8"/>
            <p:cNvSpPr/>
            <p:nvPr/>
          </p:nvSpPr>
          <p:spPr>
            <a:xfrm>
              <a:off x="4599980" y="4460081"/>
              <a:ext cx="226814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9DB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</a:t>
              </a:r>
              <a:endParaRPr lang="en-US" sz="2500" dirty="0"/>
            </a:p>
          </p:txBody>
        </p:sp>
      </p:grpSp>
      <p:sp>
        <p:nvSpPr>
          <p:cNvPr id="25" name="Text 9"/>
          <p:cNvSpPr/>
          <p:nvPr/>
        </p:nvSpPr>
        <p:spPr>
          <a:xfrm>
            <a:off x="7305675" y="1990725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Multiplication Flow</a:t>
            </a:r>
            <a:endParaRPr lang="en-US" sz="1400" dirty="0"/>
          </a:p>
        </p:txBody>
      </p:sp>
      <p:sp>
        <p:nvSpPr>
          <p:cNvPr id="26" name="Text 10"/>
          <p:cNvSpPr/>
          <p:nvPr/>
        </p:nvSpPr>
        <p:spPr>
          <a:xfrm>
            <a:off x="7205663" y="25050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05850" y="2533650"/>
            <a:ext cx="171450" cy="20955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10220325" y="2505075"/>
            <a:ext cx="11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6325" y="2971800"/>
            <a:ext cx="190500" cy="24765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8077200" y="341947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 ( )</a:t>
            </a:r>
            <a:r>
              <a:rPr lang="en-US" sz="10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40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6325" y="3886200"/>
            <a:ext cx="190500" cy="24765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7205663" y="43338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05850" y="4362450"/>
            <a:ext cx="171450" cy="20955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10220325" y="4333875"/>
            <a:ext cx="11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40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6325" y="4800600"/>
            <a:ext cx="190500" cy="24765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8724900" y="5229225"/>
            <a:ext cx="13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700" dirty="0"/>
          </a:p>
        </p:txBody>
      </p:sp>
      <p:sp>
        <p:nvSpPr>
          <p:cNvPr id="37" name="Text 16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B3CBC392-7D00-4335-BC14-A3CB493697A7}"/>
              </a:ext>
            </a:extLst>
          </p:cNvPr>
          <p:cNvSpPr/>
          <p:nvPr/>
        </p:nvSpPr>
        <p:spPr>
          <a:xfrm>
            <a:off x="6296025" y="749498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25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096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75" y="962025"/>
            <a:ext cx="781050" cy="571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885950"/>
            <a:ext cx="5238750" cy="382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4486275"/>
            <a:ext cx="476250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657" y="5098797"/>
            <a:ext cx="1630286" cy="1179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3371" y="5077346"/>
            <a:ext cx="150158" cy="16088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5086350"/>
            <a:ext cx="133350" cy="1428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5086350"/>
            <a:ext cx="133350" cy="1428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5105400"/>
            <a:ext cx="1447800" cy="1047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5086350"/>
            <a:ext cx="133350" cy="1428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5086350"/>
            <a:ext cx="133350" cy="1428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5" y="5086350"/>
            <a:ext cx="133350" cy="1428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0" y="5105400"/>
            <a:ext cx="1447800" cy="104775"/>
          </a:xfrm>
          <a:prstGeom prst="rect">
            <a:avLst/>
          </a:prstGeom>
        </p:spPr>
      </p:pic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4613" y="4991100"/>
            <a:ext cx="1473011" cy="3333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9350" y="5086350"/>
            <a:ext cx="133350" cy="14287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5175" y="5086350"/>
            <a:ext cx="133350" cy="142875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762000" y="76200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endParaRPr lang="en-US" sz="34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A9A981-8DA7-44B7-BF11-9BB3F40D190D}"/>
              </a:ext>
            </a:extLst>
          </p:cNvPr>
          <p:cNvGrpSpPr/>
          <p:nvPr/>
        </p:nvGrpSpPr>
        <p:grpSpPr>
          <a:xfrm>
            <a:off x="466725" y="1123950"/>
            <a:ext cx="5810250" cy="1857375"/>
            <a:chOff x="466725" y="1123950"/>
            <a:chExt cx="5810250" cy="1857375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6725" y="1123950"/>
              <a:ext cx="5810250" cy="1857375"/>
            </a:xfrm>
            <a:prstGeom prst="rect">
              <a:avLst/>
            </a:prstGeom>
          </p:spPr>
        </p:pic>
        <p:sp>
          <p:nvSpPr>
            <p:cNvPr id="24" name="Text 1"/>
            <p:cNvSpPr/>
            <p:nvPr/>
          </p:nvSpPr>
          <p:spPr>
            <a:xfrm>
              <a:off x="1009650" y="1675209"/>
              <a:ext cx="4724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Formula</a:t>
              </a:r>
              <a:endParaRPr lang="en-US" sz="1400" dirty="0"/>
            </a:p>
          </p:txBody>
        </p:sp>
        <p:sp>
          <p:nvSpPr>
            <p:cNvPr id="25" name="Text 2"/>
            <p:cNvSpPr/>
            <p:nvPr/>
          </p:nvSpPr>
          <p:spPr>
            <a:xfrm>
              <a:off x="1599902" y="2094309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2D7D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</a:t>
              </a:r>
              <a:endParaRPr lang="en-US" sz="2100" dirty="0"/>
            </a:p>
          </p:txBody>
        </p:sp>
        <p:sp>
          <p:nvSpPr>
            <p:cNvPr id="26" name="Text 3"/>
            <p:cNvSpPr/>
            <p:nvPr/>
          </p:nvSpPr>
          <p:spPr>
            <a:xfrm>
              <a:off x="1899940" y="2094309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</a:t>
              </a:r>
              <a:endParaRPr lang="en-US" sz="2100" dirty="0"/>
            </a:p>
          </p:txBody>
        </p:sp>
        <p:sp>
          <p:nvSpPr>
            <p:cNvPr id="27" name="Text 4"/>
            <p:cNvSpPr/>
            <p:nvPr/>
          </p:nvSpPr>
          <p:spPr>
            <a:xfrm>
              <a:off x="2199977" y="2094309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2D7D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</a:t>
              </a:r>
              <a:endParaRPr lang="en-US" sz="2100" dirty="0"/>
            </a:p>
          </p:txBody>
        </p:sp>
        <p:sp>
          <p:nvSpPr>
            <p:cNvPr id="28" name="Text 5"/>
            <p:cNvSpPr/>
            <p:nvPr/>
          </p:nvSpPr>
          <p:spPr>
            <a:xfrm>
              <a:off x="2500015" y="2094309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</a:t>
              </a:r>
              <a:endParaRPr lang="en-US" sz="2100" dirty="0"/>
            </a:p>
          </p:txBody>
        </p:sp>
        <p:sp>
          <p:nvSpPr>
            <p:cNvPr id="29" name="Text 6"/>
            <p:cNvSpPr/>
            <p:nvPr/>
          </p:nvSpPr>
          <p:spPr>
            <a:xfrm>
              <a:off x="2800052" y="2094309"/>
              <a:ext cx="18633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D4AF3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α</a:t>
              </a:r>
              <a:endParaRPr lang="en-US" sz="2100" dirty="0"/>
            </a:p>
          </p:txBody>
        </p:sp>
        <p:sp>
          <p:nvSpPr>
            <p:cNvPr id="30" name="Text 7"/>
            <p:cNvSpPr/>
            <p:nvPr/>
          </p:nvSpPr>
          <p:spPr>
            <a:xfrm>
              <a:off x="3062585" y="2094309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·</a:t>
              </a:r>
              <a:endParaRPr lang="en-US" sz="2100" dirty="0"/>
            </a:p>
          </p:txBody>
        </p:sp>
        <p:sp>
          <p:nvSpPr>
            <p:cNvPr id="31" name="Text 8"/>
            <p:cNvSpPr/>
            <p:nvPr/>
          </p:nvSpPr>
          <p:spPr>
            <a:xfrm>
              <a:off x="3324523" y="2094309"/>
              <a:ext cx="181927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X</a:t>
              </a:r>
              <a:r>
                <a:rPr lang="en-US" sz="16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</a:t>
              </a:r>
              <a:r>
                <a:rPr lang="en-US" sz="21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(Xw - y)</a:t>
              </a:r>
              <a:endParaRPr lang="en-US" sz="2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BD6FF31-0800-46C5-BEEF-6559E1A0EE5C}"/>
              </a:ext>
            </a:extLst>
          </p:cNvPr>
          <p:cNvGrpSpPr/>
          <p:nvPr/>
        </p:nvGrpSpPr>
        <p:grpSpPr>
          <a:xfrm>
            <a:off x="752475" y="2857500"/>
            <a:ext cx="5238750" cy="1447800"/>
            <a:chOff x="752475" y="2857500"/>
            <a:chExt cx="5238750" cy="1447800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2475" y="2857500"/>
              <a:ext cx="5238750" cy="14478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0600" y="3095625"/>
              <a:ext cx="476250" cy="485775"/>
            </a:xfrm>
            <a:prstGeom prst="rect">
              <a:avLst/>
            </a:prstGeom>
          </p:spPr>
        </p:pic>
        <p:pic>
          <p:nvPicPr>
            <p:cNvPr id="32" name="Image 21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04900" y="3209925"/>
              <a:ext cx="247650" cy="257175"/>
            </a:xfrm>
            <a:prstGeom prst="rect">
              <a:avLst/>
            </a:prstGeom>
          </p:spPr>
        </p:pic>
        <p:sp>
          <p:nvSpPr>
            <p:cNvPr id="33" name="Text 9"/>
            <p:cNvSpPr/>
            <p:nvPr/>
          </p:nvSpPr>
          <p:spPr>
            <a:xfrm>
              <a:off x="1647825" y="3113484"/>
              <a:ext cx="40957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Iterative Optimization</a:t>
              </a:r>
              <a:endParaRPr lang="en-US" sz="1700" dirty="0"/>
            </a:p>
          </p:txBody>
        </p:sp>
        <p:sp>
          <p:nvSpPr>
            <p:cNvPr id="34" name="Text 10"/>
            <p:cNvSpPr/>
            <p:nvPr/>
          </p:nvSpPr>
          <p:spPr>
            <a:xfrm>
              <a:off x="1647825" y="3494484"/>
              <a:ext cx="4095750" cy="5572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Gradually updates weights step-by-step to find the minimum error.</a:t>
              </a:r>
              <a:endParaRPr lang="en-US" sz="12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60243B-525E-435E-8B51-D3950A822F05}"/>
              </a:ext>
            </a:extLst>
          </p:cNvPr>
          <p:cNvGrpSpPr/>
          <p:nvPr/>
        </p:nvGrpSpPr>
        <p:grpSpPr>
          <a:xfrm>
            <a:off x="752475" y="4467225"/>
            <a:ext cx="5238750" cy="1724025"/>
            <a:chOff x="752475" y="4467225"/>
            <a:chExt cx="5238750" cy="1724025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52475" y="4467225"/>
              <a:ext cx="5238750" cy="1724025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90600" y="4705350"/>
              <a:ext cx="476250" cy="485775"/>
            </a:xfrm>
            <a:prstGeom prst="rect">
              <a:avLst/>
            </a:prstGeom>
          </p:spPr>
        </p:pic>
        <p:pic>
          <p:nvPicPr>
            <p:cNvPr id="35" name="Image 22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04900" y="4819650"/>
              <a:ext cx="247650" cy="257175"/>
            </a:xfrm>
            <a:prstGeom prst="rect">
              <a:avLst/>
            </a:prstGeom>
          </p:spPr>
        </p:pic>
        <p:sp>
          <p:nvSpPr>
            <p:cNvPr id="36" name="Text 11"/>
            <p:cNvSpPr/>
            <p:nvPr/>
          </p:nvSpPr>
          <p:spPr>
            <a:xfrm>
              <a:off x="1647825" y="4718447"/>
              <a:ext cx="40957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Key Parameters</a:t>
              </a:r>
              <a:endParaRPr lang="en-US" sz="1700" dirty="0"/>
            </a:p>
          </p:txBody>
        </p:sp>
        <p:sp>
          <p:nvSpPr>
            <p:cNvPr id="37" name="Text 12"/>
            <p:cNvSpPr/>
            <p:nvPr/>
          </p:nvSpPr>
          <p:spPr>
            <a:xfrm>
              <a:off x="1647825" y="5099447"/>
              <a:ext cx="4095750" cy="8358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Requires tuning the </a:t>
              </a:r>
              <a:r>
                <a:rPr lang="en-US" sz="1200" b="1" dirty="0">
                  <a:solidFill>
                    <a:srgbClr val="D4AF3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learning rate (α)</a:t>
              </a:r>
              <a:r>
                <a:rPr lang="en-US" sz="12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and setting the number of iterations for convergence.</a:t>
              </a:r>
              <a:endParaRPr lang="en-US" sz="1200" dirty="0"/>
            </a:p>
          </p:txBody>
        </p:sp>
      </p:grpSp>
      <p:sp>
        <p:nvSpPr>
          <p:cNvPr id="38" name="Text 13"/>
          <p:cNvSpPr/>
          <p:nvPr/>
        </p:nvSpPr>
        <p:spPr>
          <a:xfrm>
            <a:off x="7677150" y="2138363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Step-by-Step Descent</a:t>
            </a:r>
            <a:endParaRPr lang="en-US" sz="1400" dirty="0"/>
          </a:p>
        </p:txBody>
      </p:sp>
      <p:pic>
        <p:nvPicPr>
          <p:cNvPr id="39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6125" y="2543175"/>
            <a:ext cx="3448050" cy="1743075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6448425" y="4700588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(α) Impact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819900" y="52720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Small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8553450" y="5272088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</a:t>
            </a:r>
            <a:endParaRPr lang="en-US" sz="900" dirty="0"/>
          </a:p>
        </p:txBody>
      </p:sp>
      <p:sp>
        <p:nvSpPr>
          <p:cNvPr id="44" name="Text 17"/>
          <p:cNvSpPr/>
          <p:nvPr/>
        </p:nvSpPr>
        <p:spPr>
          <a:xfrm>
            <a:off x="10134600" y="52720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Large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4BDF16AE-0CF5-41D9-9F9D-A3A56D410673}"/>
              </a:ext>
            </a:extLst>
          </p:cNvPr>
          <p:cNvSpPr/>
          <p:nvPr/>
        </p:nvSpPr>
        <p:spPr>
          <a:xfrm>
            <a:off x="6200775" y="757237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8" grpId="0" animBg="1"/>
      <p:bldP spid="40" grpId="0" animBg="1"/>
      <p:bldP spid="41" grpId="0" animBg="1"/>
      <p:bldP spid="42" grpId="0" animBg="1"/>
      <p:bldP spid="44" grpId="0" animBg="1"/>
      <p:bldP spid="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5" y="962025"/>
            <a:ext cx="781050" cy="571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933575"/>
            <a:ext cx="5238750" cy="3733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552700"/>
            <a:ext cx="4838700" cy="1457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2175" y="3343275"/>
            <a:ext cx="1295400" cy="5429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900" y="3486150"/>
            <a:ext cx="180975" cy="666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7900" y="3676650"/>
            <a:ext cx="180975" cy="666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171950"/>
            <a:ext cx="4838700" cy="1295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4676775"/>
            <a:ext cx="4533900" cy="1047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6086" y="4677335"/>
            <a:ext cx="2276475" cy="1047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0625" y="4676775"/>
            <a:ext cx="2276475" cy="1047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638675"/>
            <a:ext cx="171450" cy="1809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20125" y="4524375"/>
            <a:ext cx="400050" cy="4095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1850" y="4638675"/>
            <a:ext cx="171450" cy="180975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000" y="762000"/>
            <a:ext cx="3905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34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02A62E-3176-4F51-B9FD-6A3C3F639F43}"/>
              </a:ext>
            </a:extLst>
          </p:cNvPr>
          <p:cNvGrpSpPr/>
          <p:nvPr/>
        </p:nvGrpSpPr>
        <p:grpSpPr>
          <a:xfrm>
            <a:off x="752475" y="1524000"/>
            <a:ext cx="5238750" cy="1600200"/>
            <a:chOff x="752475" y="1524000"/>
            <a:chExt cx="5238750" cy="1600200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52475" y="1524000"/>
              <a:ext cx="5238750" cy="16002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14400" y="1685925"/>
              <a:ext cx="400050" cy="409575"/>
            </a:xfrm>
            <a:prstGeom prst="rect">
              <a:avLst/>
            </a:prstGeom>
          </p:spPr>
        </p:pic>
        <p:pic>
          <p:nvPicPr>
            <p:cNvPr id="23" name="Image 20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90600" y="1762125"/>
              <a:ext cx="247650" cy="257175"/>
            </a:xfrm>
            <a:prstGeom prst="rect">
              <a:avLst/>
            </a:prstGeom>
          </p:spPr>
        </p:pic>
        <p:sp>
          <p:nvSpPr>
            <p:cNvPr id="24" name="Text 1"/>
            <p:cNvSpPr/>
            <p:nvPr/>
          </p:nvSpPr>
          <p:spPr>
            <a:xfrm>
              <a:off x="1495425" y="1697831"/>
              <a:ext cx="43243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L2-Regularized Solution</a:t>
              </a:r>
              <a:endParaRPr lang="en-US" sz="1700" dirty="0"/>
            </a:p>
          </p:txBody>
        </p:sp>
        <p:sp>
          <p:nvSpPr>
            <p:cNvPr id="25" name="Text 2"/>
            <p:cNvSpPr/>
            <p:nvPr/>
          </p:nvSpPr>
          <p:spPr>
            <a:xfrm>
              <a:off x="1495425" y="2116931"/>
              <a:ext cx="4324350" cy="8358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Adds a penalty term to the loss function to constrain weight magnitudes and improve model stability.</a:t>
              </a:r>
              <a:endParaRPr lang="en-US" sz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25A058E-7C4D-4647-A225-BA77FE0935CE}"/>
              </a:ext>
            </a:extLst>
          </p:cNvPr>
          <p:cNvGrpSpPr/>
          <p:nvPr/>
        </p:nvGrpSpPr>
        <p:grpSpPr>
          <a:xfrm>
            <a:off x="466725" y="2933700"/>
            <a:ext cx="5810250" cy="1733550"/>
            <a:chOff x="466725" y="2933700"/>
            <a:chExt cx="5810250" cy="173355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66725" y="2933700"/>
              <a:ext cx="5810250" cy="1733550"/>
            </a:xfrm>
            <a:prstGeom prst="rect">
              <a:avLst/>
            </a:prstGeom>
          </p:spPr>
        </p:pic>
        <p:sp>
          <p:nvSpPr>
            <p:cNvPr id="26" name="Text 3"/>
            <p:cNvSpPr/>
            <p:nvPr/>
          </p:nvSpPr>
          <p:spPr>
            <a:xfrm>
              <a:off x="971550" y="3438525"/>
              <a:ext cx="4800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Formula</a:t>
              </a:r>
              <a:endParaRPr lang="en-US" sz="1400" dirty="0"/>
            </a:p>
          </p:txBody>
        </p:sp>
        <p:sp>
          <p:nvSpPr>
            <p:cNvPr id="27" name="Text 4"/>
            <p:cNvSpPr/>
            <p:nvPr/>
          </p:nvSpPr>
          <p:spPr>
            <a:xfrm>
              <a:off x="1547515" y="3819525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2D7D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</a:t>
              </a:r>
              <a:endParaRPr lang="en-US" sz="2100" dirty="0"/>
            </a:p>
          </p:txBody>
        </p:sp>
        <p:sp>
          <p:nvSpPr>
            <p:cNvPr id="28" name="Text 5"/>
            <p:cNvSpPr/>
            <p:nvPr/>
          </p:nvSpPr>
          <p:spPr>
            <a:xfrm>
              <a:off x="1847552" y="3819525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</a:t>
              </a:r>
              <a:endParaRPr lang="en-US" sz="2100" dirty="0"/>
            </a:p>
          </p:txBody>
        </p:sp>
        <p:sp>
          <p:nvSpPr>
            <p:cNvPr id="29" name="Text 6"/>
            <p:cNvSpPr/>
            <p:nvPr/>
          </p:nvSpPr>
          <p:spPr>
            <a:xfrm>
              <a:off x="2147590" y="3819525"/>
              <a:ext cx="230088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(X</a:t>
              </a:r>
              <a:r>
                <a:rPr lang="en-US" sz="16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</a:t>
              </a:r>
              <a:r>
                <a:rPr lang="en-US" sz="21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X + </a:t>
              </a:r>
              <a:r>
                <a:rPr lang="en-US" sz="2100" b="1" dirty="0">
                  <a:solidFill>
                    <a:srgbClr val="D4AF3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λI</a:t>
              </a:r>
              <a:r>
                <a:rPr lang="en-US" sz="21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r>
                <a:rPr lang="en-US" sz="16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2100" dirty="0"/>
            </a:p>
          </p:txBody>
        </p:sp>
        <p:sp>
          <p:nvSpPr>
            <p:cNvPr id="30" name="Text 7"/>
            <p:cNvSpPr/>
            <p:nvPr/>
          </p:nvSpPr>
          <p:spPr>
            <a:xfrm>
              <a:off x="4562773" y="3819525"/>
              <a:ext cx="33337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X</a:t>
              </a:r>
              <a:r>
                <a:rPr lang="en-US" sz="1600" b="1" dirty="0">
                  <a:solidFill>
                    <a:srgbClr val="7EC8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</a:t>
              </a:r>
              <a:endParaRPr lang="en-US" sz="2100" dirty="0"/>
            </a:p>
          </p:txBody>
        </p:sp>
        <p:sp>
          <p:nvSpPr>
            <p:cNvPr id="31" name="Text 8"/>
            <p:cNvSpPr/>
            <p:nvPr/>
          </p:nvSpPr>
          <p:spPr>
            <a:xfrm>
              <a:off x="5010448" y="3819525"/>
              <a:ext cx="1857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9DB8A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</a:t>
              </a:r>
              <a:endParaRPr lang="en-US" sz="21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7F8EDAE-D55E-4CC8-8C16-168DF93083DA}"/>
              </a:ext>
            </a:extLst>
          </p:cNvPr>
          <p:cNvGrpSpPr/>
          <p:nvPr/>
        </p:nvGrpSpPr>
        <p:grpSpPr>
          <a:xfrm>
            <a:off x="752475" y="4476750"/>
            <a:ext cx="5238750" cy="1600200"/>
            <a:chOff x="752475" y="4476750"/>
            <a:chExt cx="5238750" cy="16002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52475" y="4476750"/>
              <a:ext cx="5238750" cy="16002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14400" y="4638675"/>
              <a:ext cx="400050" cy="400050"/>
            </a:xfrm>
            <a:prstGeom prst="rect">
              <a:avLst/>
            </a:prstGeom>
          </p:spPr>
        </p:pic>
        <p:pic>
          <p:nvPicPr>
            <p:cNvPr id="32" name="Image 21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62025" y="4714875"/>
              <a:ext cx="304800" cy="247650"/>
            </a:xfrm>
            <a:prstGeom prst="rect">
              <a:avLst/>
            </a:prstGeom>
          </p:spPr>
        </p:pic>
        <p:sp>
          <p:nvSpPr>
            <p:cNvPr id="33" name="Text 9"/>
            <p:cNvSpPr/>
            <p:nvPr/>
          </p:nvSpPr>
          <p:spPr>
            <a:xfrm>
              <a:off x="1495425" y="4648200"/>
              <a:ext cx="43243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Prevents Overfitting</a:t>
              </a:r>
              <a:endParaRPr lang="en-US" sz="1700" dirty="0"/>
            </a:p>
          </p:txBody>
        </p:sp>
        <p:sp>
          <p:nvSpPr>
            <p:cNvPr id="34" name="Text 10"/>
            <p:cNvSpPr/>
            <p:nvPr/>
          </p:nvSpPr>
          <p:spPr>
            <a:xfrm>
              <a:off x="1495425" y="5067300"/>
              <a:ext cx="4324350" cy="8358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The regularization parameter </a:t>
              </a:r>
              <a:r>
                <a:rPr lang="en-US" sz="1200" b="1" dirty="0">
                  <a:solidFill>
                    <a:srgbClr val="D4AF3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λ</a:t>
              </a:r>
              <a:r>
                <a:rPr lang="en-US" sz="12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controls the trade-off between fitting training data and keeping weights small.</a:t>
              </a:r>
              <a:endParaRPr lang="en-US" sz="1200" dirty="0"/>
            </a:p>
          </p:txBody>
        </p:sp>
      </p:grpSp>
      <p:sp>
        <p:nvSpPr>
          <p:cNvPr id="35" name="Text 11"/>
          <p:cNvSpPr/>
          <p:nvPr/>
        </p:nvSpPr>
        <p:spPr>
          <a:xfrm>
            <a:off x="7620000" y="2147888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Regularization Effect</a:t>
            </a:r>
            <a:endParaRPr lang="en-US" sz="1400" dirty="0"/>
          </a:p>
        </p:txBody>
      </p:sp>
      <p:pic>
        <p:nvPicPr>
          <p:cNvPr id="36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43713" y="2512638"/>
            <a:ext cx="3448050" cy="1552575"/>
          </a:xfrm>
          <a:prstGeom prst="rect">
            <a:avLst/>
          </a:prstGeom>
        </p:spPr>
      </p:pic>
      <p:sp>
        <p:nvSpPr>
          <p:cNvPr id="37" name="Text 12"/>
          <p:cNvSpPr/>
          <p:nvPr/>
        </p:nvSpPr>
        <p:spPr>
          <a:xfrm>
            <a:off x="10113318" y="3443288"/>
            <a:ext cx="869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Overfit (λ=0)</a:t>
            </a:r>
            <a:endParaRPr lang="en-US" sz="800" dirty="0"/>
          </a:p>
        </p:txBody>
      </p:sp>
      <p:sp>
        <p:nvSpPr>
          <p:cNvPr id="38" name="Text 13"/>
          <p:cNvSpPr/>
          <p:nvPr/>
        </p:nvSpPr>
        <p:spPr>
          <a:xfrm>
            <a:off x="10113318" y="3633788"/>
            <a:ext cx="733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Regularized</a:t>
            </a:r>
            <a:endParaRPr lang="en-US" sz="800" dirty="0"/>
          </a:p>
        </p:txBody>
      </p:sp>
      <p:sp>
        <p:nvSpPr>
          <p:cNvPr id="39" name="Text 14"/>
          <p:cNvSpPr/>
          <p:nvPr/>
        </p:nvSpPr>
        <p:spPr>
          <a:xfrm>
            <a:off x="6410325" y="4310063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Tuning Impact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562725" y="4919663"/>
            <a:ext cx="3891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→ 0</a:t>
            </a:r>
            <a:endParaRPr lang="en-US" sz="900" dirty="0"/>
          </a:p>
        </p:txBody>
      </p:sp>
      <p:sp>
        <p:nvSpPr>
          <p:cNvPr id="41" name="Text 16"/>
          <p:cNvSpPr/>
          <p:nvPr/>
        </p:nvSpPr>
        <p:spPr>
          <a:xfrm>
            <a:off x="6357938" y="5135235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
(High Variance)</a:t>
            </a:r>
            <a:endParaRPr lang="en-US" sz="800" dirty="0"/>
          </a:p>
        </p:txBody>
      </p:sp>
      <p:sp>
        <p:nvSpPr>
          <p:cNvPr id="42" name="Text 17"/>
          <p:cNvSpPr/>
          <p:nvPr/>
        </p:nvSpPr>
        <p:spPr>
          <a:xfrm>
            <a:off x="8475166" y="4919663"/>
            <a:ext cx="6899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 λ</a:t>
            </a:r>
            <a:endParaRPr lang="en-US" sz="900" dirty="0"/>
          </a:p>
        </p:txBody>
      </p:sp>
      <p:sp>
        <p:nvSpPr>
          <p:cNvPr id="43" name="Text 18"/>
          <p:cNvSpPr/>
          <p:nvPr/>
        </p:nvSpPr>
        <p:spPr>
          <a:xfrm>
            <a:off x="8567738" y="5148263"/>
            <a:ext cx="504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
Model</a:t>
            </a:r>
            <a:endParaRPr lang="en-US" sz="800" dirty="0"/>
          </a:p>
        </p:txBody>
      </p:sp>
      <p:sp>
        <p:nvSpPr>
          <p:cNvPr id="44" name="Text 19"/>
          <p:cNvSpPr/>
          <p:nvPr/>
        </p:nvSpPr>
        <p:spPr>
          <a:xfrm>
            <a:off x="10684222" y="4919663"/>
            <a:ext cx="3933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7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→ ∞</a:t>
            </a:r>
            <a:endParaRPr lang="en-US" sz="900" dirty="0"/>
          </a:p>
        </p:txBody>
      </p:sp>
      <p:sp>
        <p:nvSpPr>
          <p:cNvPr id="45" name="Text 20"/>
          <p:cNvSpPr/>
          <p:nvPr/>
        </p:nvSpPr>
        <p:spPr>
          <a:xfrm>
            <a:off x="10563495" y="5119688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
(High Bias)</a:t>
            </a:r>
            <a:endParaRPr lang="en-US" sz="800" dirty="0"/>
          </a:p>
        </p:txBody>
      </p:sp>
      <p:sp>
        <p:nvSpPr>
          <p:cNvPr id="46" name="Text 21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1318E036-98D2-41B2-B003-C8D6D595A45A}"/>
              </a:ext>
            </a:extLst>
          </p:cNvPr>
          <p:cNvSpPr/>
          <p:nvPr/>
        </p:nvSpPr>
        <p:spPr>
          <a:xfrm>
            <a:off x="6357938" y="75184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Khaled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757" y="1047750"/>
            <a:ext cx="781050" cy="571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3714750"/>
            <a:ext cx="6153150" cy="14478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762000"/>
            <a:ext cx="54768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the Solution</a:t>
            </a:r>
            <a:endParaRPr lang="en-US" sz="3100" dirty="0"/>
          </a:p>
        </p:txBody>
      </p:sp>
      <p:sp>
        <p:nvSpPr>
          <p:cNvPr id="15" name="Text 1"/>
          <p:cNvSpPr/>
          <p:nvPr/>
        </p:nvSpPr>
        <p:spPr>
          <a:xfrm>
            <a:off x="762000" y="1695450"/>
            <a:ext cx="40842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7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A848F7A-0C9E-43DC-897C-2562EC7ACEDA}"/>
              </a:ext>
            </a:extLst>
          </p:cNvPr>
          <p:cNvGrpSpPr/>
          <p:nvPr/>
        </p:nvGrpSpPr>
        <p:grpSpPr>
          <a:xfrm>
            <a:off x="752475" y="2295525"/>
            <a:ext cx="4105275" cy="800100"/>
            <a:chOff x="752475" y="2295525"/>
            <a:chExt cx="4105275" cy="800100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475" y="2295525"/>
              <a:ext cx="4105275" cy="8001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00" y="2457450"/>
              <a:ext cx="476250" cy="476250"/>
            </a:xfrm>
            <a:prstGeom prst="rect">
              <a:avLst/>
            </a:prstGeom>
          </p:spPr>
        </p:pic>
        <p:pic>
          <p:nvPicPr>
            <p:cNvPr id="16" name="Image 12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6800" y="2590800"/>
              <a:ext cx="171450" cy="209550"/>
            </a:xfrm>
            <a:prstGeom prst="rect">
              <a:avLst/>
            </a:prstGeom>
          </p:spPr>
        </p:pic>
        <p:sp>
          <p:nvSpPr>
            <p:cNvPr id="17" name="Text 2"/>
            <p:cNvSpPr/>
            <p:nvPr/>
          </p:nvSpPr>
          <p:spPr>
            <a:xfrm>
              <a:off x="1533525" y="2466975"/>
              <a:ext cx="7429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NumPy</a:t>
              </a:r>
              <a:endParaRPr lang="en-US" sz="1400" dirty="0"/>
            </a:p>
          </p:txBody>
        </p:sp>
        <p:sp>
          <p:nvSpPr>
            <p:cNvPr id="18" name="Text 3"/>
            <p:cNvSpPr/>
            <p:nvPr/>
          </p:nvSpPr>
          <p:spPr>
            <a:xfrm>
              <a:off x="1533525" y="2733675"/>
              <a:ext cx="7429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DB8A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(core math)</a:t>
              </a:r>
              <a:endParaRPr lang="en-US" sz="9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DB97134-2779-4D5D-8FCF-7AC760275253}"/>
              </a:ext>
            </a:extLst>
          </p:cNvPr>
          <p:cNvGrpSpPr/>
          <p:nvPr/>
        </p:nvGrpSpPr>
        <p:grpSpPr>
          <a:xfrm>
            <a:off x="752475" y="3228975"/>
            <a:ext cx="4105275" cy="800100"/>
            <a:chOff x="752475" y="3228975"/>
            <a:chExt cx="4105275" cy="8001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475" y="3228975"/>
              <a:ext cx="4105275" cy="8001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00" y="3390900"/>
              <a:ext cx="476250" cy="476250"/>
            </a:xfrm>
            <a:prstGeom prst="rect">
              <a:avLst/>
            </a:prstGeom>
          </p:spPr>
        </p:pic>
        <p:pic>
          <p:nvPicPr>
            <p:cNvPr id="19" name="Image 13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7750" y="3524250"/>
              <a:ext cx="209550" cy="209550"/>
            </a:xfrm>
            <a:prstGeom prst="rect">
              <a:avLst/>
            </a:prstGeom>
          </p:spPr>
        </p:pic>
        <p:sp>
          <p:nvSpPr>
            <p:cNvPr id="20" name="Text 4"/>
            <p:cNvSpPr/>
            <p:nvPr/>
          </p:nvSpPr>
          <p:spPr>
            <a:xfrm>
              <a:off x="1533525" y="3400425"/>
              <a:ext cx="952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pandas</a:t>
              </a:r>
              <a:endParaRPr lang="en-US" sz="1400" dirty="0"/>
            </a:p>
          </p:txBody>
        </p:sp>
        <p:sp>
          <p:nvSpPr>
            <p:cNvPr id="21" name="Text 5"/>
            <p:cNvSpPr/>
            <p:nvPr/>
          </p:nvSpPr>
          <p:spPr>
            <a:xfrm>
              <a:off x="1533525" y="3667125"/>
              <a:ext cx="952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DB8A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(data handling)</a:t>
              </a:r>
              <a:endParaRPr lang="en-US" sz="9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CD7CB4B-B72C-4879-AFD9-F4CED0C7C2FC}"/>
              </a:ext>
            </a:extLst>
          </p:cNvPr>
          <p:cNvGrpSpPr/>
          <p:nvPr/>
        </p:nvGrpSpPr>
        <p:grpSpPr>
          <a:xfrm>
            <a:off x="752475" y="4162425"/>
            <a:ext cx="4105275" cy="800100"/>
            <a:chOff x="752475" y="4162425"/>
            <a:chExt cx="4105275" cy="8001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2475" y="4162425"/>
              <a:ext cx="4105275" cy="8001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00" y="4324350"/>
              <a:ext cx="476250" cy="476250"/>
            </a:xfrm>
            <a:prstGeom prst="rect">
              <a:avLst/>
            </a:prstGeom>
          </p:spPr>
        </p:pic>
        <p:pic>
          <p:nvPicPr>
            <p:cNvPr id="22" name="Image 14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7750" y="4457700"/>
              <a:ext cx="209550" cy="209550"/>
            </a:xfrm>
            <a:prstGeom prst="rect">
              <a:avLst/>
            </a:prstGeom>
          </p:spPr>
        </p:pic>
        <p:sp>
          <p:nvSpPr>
            <p:cNvPr id="23" name="Text 6"/>
            <p:cNvSpPr/>
            <p:nvPr/>
          </p:nvSpPr>
          <p:spPr>
            <a:xfrm>
              <a:off x="1533525" y="4333875"/>
              <a:ext cx="10477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matplotlib</a:t>
              </a:r>
              <a:endParaRPr lang="en-US" sz="1400" dirty="0"/>
            </a:p>
          </p:txBody>
        </p:sp>
        <p:sp>
          <p:nvSpPr>
            <p:cNvPr id="24" name="Text 7"/>
            <p:cNvSpPr/>
            <p:nvPr/>
          </p:nvSpPr>
          <p:spPr>
            <a:xfrm>
              <a:off x="1533525" y="4600575"/>
              <a:ext cx="1047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DB8A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(plots)</a:t>
              </a:r>
              <a:endParaRPr lang="en-US" sz="9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3AA3E7-B988-43B1-A954-94B89B733D70}"/>
              </a:ext>
            </a:extLst>
          </p:cNvPr>
          <p:cNvGrpSpPr/>
          <p:nvPr/>
        </p:nvGrpSpPr>
        <p:grpSpPr>
          <a:xfrm>
            <a:off x="752475" y="5095875"/>
            <a:ext cx="4105275" cy="800100"/>
            <a:chOff x="752475" y="5095875"/>
            <a:chExt cx="4105275" cy="800100"/>
          </a:xfrm>
        </p:grpSpPr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475" y="5095875"/>
              <a:ext cx="4105275" cy="8001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00" y="5257800"/>
              <a:ext cx="476250" cy="476250"/>
            </a:xfrm>
            <a:prstGeom prst="rect">
              <a:avLst/>
            </a:prstGeom>
          </p:spPr>
        </p:pic>
        <p:pic>
          <p:nvPicPr>
            <p:cNvPr id="25" name="Image 15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47750" y="5391150"/>
              <a:ext cx="209550" cy="209550"/>
            </a:xfrm>
            <a:prstGeom prst="rect">
              <a:avLst/>
            </a:prstGeom>
          </p:spPr>
        </p:pic>
        <p:sp>
          <p:nvSpPr>
            <p:cNvPr id="26" name="Text 8"/>
            <p:cNvSpPr/>
            <p:nvPr/>
          </p:nvSpPr>
          <p:spPr>
            <a:xfrm>
              <a:off x="1533525" y="5267325"/>
              <a:ext cx="990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sklearn</a:t>
              </a:r>
              <a:endParaRPr lang="en-US" sz="1400" dirty="0"/>
            </a:p>
          </p:txBody>
        </p:sp>
        <p:sp>
          <p:nvSpPr>
            <p:cNvPr id="27" name="Text 9"/>
            <p:cNvSpPr/>
            <p:nvPr/>
          </p:nvSpPr>
          <p:spPr>
            <a:xfrm>
              <a:off x="1533525" y="5534025"/>
              <a:ext cx="9906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DB8A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(validation only)</a:t>
              </a:r>
              <a:endParaRPr lang="en-US" sz="900" dirty="0"/>
            </a:p>
          </p:txBody>
        </p:sp>
      </p:grpSp>
      <p:sp>
        <p:nvSpPr>
          <p:cNvPr id="28" name="Text 10"/>
          <p:cNvSpPr/>
          <p:nvPr/>
        </p:nvSpPr>
        <p:spPr>
          <a:xfrm>
            <a:off x="5303490" y="1695450"/>
            <a:ext cx="61265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EC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1700" dirty="0"/>
          </a:p>
        </p:txBody>
      </p:sp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6375" y="2181225"/>
            <a:ext cx="180975" cy="17145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5570190" y="2152650"/>
            <a:ext cx="4619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</a:t>
            </a:r>
            <a:r>
              <a:rPr lang="en-US" sz="1400" dirty="0">
                <a:solidFill>
                  <a:srgbClr val="D4AF37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np.linalg.solve()</a:t>
            </a: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explicit inverse</a:t>
            </a:r>
            <a:endParaRPr lang="en-US" sz="1400" dirty="0"/>
          </a:p>
        </p:txBody>
      </p: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6375" y="2609850"/>
            <a:ext cx="180975" cy="171450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5570190" y="2581275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 features for gradient descent</a:t>
            </a:r>
            <a:endParaRPr lang="en-US" sz="140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6375" y="3028950"/>
            <a:ext cx="180975" cy="17145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5570190" y="3000375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Exclude bias term from Ridge regularization</a:t>
            </a:r>
            <a:endParaRPr lang="en-US" sz="14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B3C20EB-2323-41FA-8C66-F1EE256B7B19}"/>
              </a:ext>
            </a:extLst>
          </p:cNvPr>
          <p:cNvGrpSpPr/>
          <p:nvPr/>
        </p:nvGrpSpPr>
        <p:grpSpPr>
          <a:xfrm>
            <a:off x="5524500" y="4029075"/>
            <a:ext cx="561975" cy="809625"/>
            <a:chOff x="5524500" y="4029075"/>
            <a:chExt cx="561975" cy="809625"/>
          </a:xfrm>
        </p:grpSpPr>
        <p:pic>
          <p:nvPicPr>
            <p:cNvPr id="35" name="Image 19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524500" y="4029075"/>
              <a:ext cx="561975" cy="552450"/>
            </a:xfrm>
            <a:prstGeom prst="rect">
              <a:avLst/>
            </a:prstGeom>
          </p:spPr>
        </p:pic>
        <p:sp>
          <p:nvSpPr>
            <p:cNvPr id="36" name="Text 14"/>
            <p:cNvSpPr/>
            <p:nvPr/>
          </p:nvSpPr>
          <p:spPr>
            <a:xfrm>
              <a:off x="5541615" y="4038600"/>
              <a:ext cx="53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highlight>
                    <a:srgbClr val="2D7D5E"/>
                  </a:highlight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37" name="Text 15"/>
            <p:cNvSpPr/>
            <p:nvPr/>
          </p:nvSpPr>
          <p:spPr>
            <a:xfrm>
              <a:off x="5660678" y="4648200"/>
              <a:ext cx="2952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900" dirty="0"/>
            </a:p>
          </p:txBody>
        </p:sp>
      </p:grp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4352925"/>
            <a:ext cx="161925" cy="171450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08B45778-881F-4618-9169-2DDF84BD9F3D}"/>
              </a:ext>
            </a:extLst>
          </p:cNvPr>
          <p:cNvGrpSpPr/>
          <p:nvPr/>
        </p:nvGrpSpPr>
        <p:grpSpPr>
          <a:xfrm>
            <a:off x="6742212" y="4029075"/>
            <a:ext cx="723900" cy="809625"/>
            <a:chOff x="6742212" y="4029075"/>
            <a:chExt cx="723900" cy="809625"/>
          </a:xfrm>
        </p:grpSpPr>
        <p:pic>
          <p:nvPicPr>
            <p:cNvPr id="39" name="Image 21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819900" y="4029075"/>
              <a:ext cx="561975" cy="552450"/>
            </a:xfrm>
            <a:prstGeom prst="rect">
              <a:avLst/>
            </a:prstGeom>
          </p:spPr>
        </p:pic>
        <p:sp>
          <p:nvSpPr>
            <p:cNvPr id="40" name="Text 16"/>
            <p:cNvSpPr/>
            <p:nvPr/>
          </p:nvSpPr>
          <p:spPr>
            <a:xfrm>
              <a:off x="6837462" y="4038600"/>
              <a:ext cx="53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highlight>
                    <a:srgbClr val="2D7D5E"/>
                  </a:highlight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41" name="Text 17"/>
            <p:cNvSpPr/>
            <p:nvPr/>
          </p:nvSpPr>
          <p:spPr>
            <a:xfrm>
              <a:off x="6742212" y="4648200"/>
              <a:ext cx="7239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Preprocess</a:t>
              </a:r>
              <a:endParaRPr lang="en-US" sz="900" dirty="0"/>
            </a:p>
          </p:txBody>
        </p:sp>
      </p:grp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0" y="4352925"/>
            <a:ext cx="161925" cy="171450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2E6C5DA8-3FC7-4055-A0C8-05D86BB35431}"/>
              </a:ext>
            </a:extLst>
          </p:cNvPr>
          <p:cNvGrpSpPr/>
          <p:nvPr/>
        </p:nvGrpSpPr>
        <p:grpSpPr>
          <a:xfrm>
            <a:off x="8133457" y="4043144"/>
            <a:ext cx="647700" cy="815727"/>
            <a:chOff x="8133457" y="4043144"/>
            <a:chExt cx="647700" cy="815727"/>
          </a:xfrm>
        </p:grpSpPr>
        <p:pic>
          <p:nvPicPr>
            <p:cNvPr id="43" name="Image 23" descr="preencoded.png"/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0A1628"/>
                </a:clrFrom>
                <a:clrTo>
                  <a:srgbClr val="0A1628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172450" y="4043144"/>
              <a:ext cx="561975" cy="509806"/>
            </a:xfrm>
            <a:prstGeom prst="rect">
              <a:avLst/>
            </a:prstGeom>
          </p:spPr>
        </p:pic>
        <p:sp>
          <p:nvSpPr>
            <p:cNvPr id="44" name="Text 18"/>
            <p:cNvSpPr/>
            <p:nvPr/>
          </p:nvSpPr>
          <p:spPr>
            <a:xfrm>
              <a:off x="8135469" y="4116480"/>
              <a:ext cx="62775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" name="Text 19"/>
            <p:cNvSpPr/>
            <p:nvPr/>
          </p:nvSpPr>
          <p:spPr>
            <a:xfrm>
              <a:off x="8133457" y="4628029"/>
              <a:ext cx="647700" cy="2308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Train
</a:t>
              </a:r>
              <a:r>
                <a:rPr lang="en-US" sz="800" b="1" dirty="0">
                  <a:solidFill>
                    <a:srgbClr val="9DB8A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(3 methods)</a:t>
              </a:r>
              <a:endParaRPr lang="en-US" sz="900" dirty="0"/>
            </a:p>
          </p:txBody>
        </p:sp>
      </p:grpSp>
      <p:pic>
        <p:nvPicPr>
          <p:cNvPr id="4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9700" y="4352925"/>
            <a:ext cx="161925" cy="17145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D1B927FB-5871-4DBD-8374-5A7184E3613C}"/>
              </a:ext>
            </a:extLst>
          </p:cNvPr>
          <p:cNvGrpSpPr/>
          <p:nvPr/>
        </p:nvGrpSpPr>
        <p:grpSpPr>
          <a:xfrm>
            <a:off x="9439275" y="4029075"/>
            <a:ext cx="561975" cy="809625"/>
            <a:chOff x="9439275" y="4029075"/>
            <a:chExt cx="561975" cy="809625"/>
          </a:xfrm>
        </p:grpSpPr>
        <p:pic>
          <p:nvPicPr>
            <p:cNvPr id="47" name="Image 25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439275" y="4029075"/>
              <a:ext cx="561975" cy="552450"/>
            </a:xfrm>
            <a:prstGeom prst="rect">
              <a:avLst/>
            </a:prstGeom>
          </p:spPr>
        </p:pic>
        <p:sp>
          <p:nvSpPr>
            <p:cNvPr id="48" name="Text 20"/>
            <p:cNvSpPr/>
            <p:nvPr/>
          </p:nvSpPr>
          <p:spPr>
            <a:xfrm>
              <a:off x="9453116" y="4038600"/>
              <a:ext cx="53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highlight>
                    <a:srgbClr val="2D7D5E"/>
                  </a:highlight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49" name="Text 21"/>
            <p:cNvSpPr/>
            <p:nvPr/>
          </p:nvSpPr>
          <p:spPr>
            <a:xfrm>
              <a:off x="9448354" y="4648200"/>
              <a:ext cx="5429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Evaluate</a:t>
              </a:r>
              <a:endParaRPr lang="en-US" sz="900" dirty="0"/>
            </a:p>
          </p:txBody>
        </p:sp>
      </p:grpSp>
      <p:pic>
        <p:nvPicPr>
          <p:cNvPr id="50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39375" y="4352925"/>
            <a:ext cx="161925" cy="171450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EFEE098E-25F6-410F-9D38-D34DF8D032AD}"/>
              </a:ext>
            </a:extLst>
          </p:cNvPr>
          <p:cNvGrpSpPr/>
          <p:nvPr/>
        </p:nvGrpSpPr>
        <p:grpSpPr>
          <a:xfrm>
            <a:off x="10648950" y="4029075"/>
            <a:ext cx="552450" cy="809625"/>
            <a:chOff x="10648950" y="4029075"/>
            <a:chExt cx="552450" cy="809625"/>
          </a:xfrm>
        </p:grpSpPr>
        <p:pic>
          <p:nvPicPr>
            <p:cNvPr id="51" name="Image 27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48950" y="4029075"/>
              <a:ext cx="552450" cy="552450"/>
            </a:xfrm>
            <a:prstGeom prst="rect">
              <a:avLst/>
            </a:prstGeom>
          </p:spPr>
        </p:pic>
        <p:sp>
          <p:nvSpPr>
            <p:cNvPr id="52" name="Text 22"/>
            <p:cNvSpPr/>
            <p:nvPr/>
          </p:nvSpPr>
          <p:spPr>
            <a:xfrm>
              <a:off x="10658475" y="4038600"/>
              <a:ext cx="5334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highlight>
                    <a:srgbClr val="2D7D5E"/>
                  </a:highlight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1100" dirty="0"/>
            </a:p>
          </p:txBody>
        </p:sp>
        <p:sp>
          <p:nvSpPr>
            <p:cNvPr id="53" name="Text 23"/>
            <p:cNvSpPr/>
            <p:nvPr/>
          </p:nvSpPr>
          <p:spPr>
            <a:xfrm>
              <a:off x="10663238" y="4648200"/>
              <a:ext cx="523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Validate</a:t>
              </a:r>
              <a:endParaRPr lang="en-US" sz="900" dirty="0"/>
            </a:p>
          </p:txBody>
        </p:sp>
      </p:grpSp>
      <p:sp>
        <p:nvSpPr>
          <p:cNvPr id="54" name="Text 24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69" name="Text 0">
            <a:extLst>
              <a:ext uri="{FF2B5EF4-FFF2-40B4-BE49-F238E27FC236}">
                <a16:creationId xmlns:a16="http://schemas.microsoft.com/office/drawing/2014/main" id="{FD1F2C01-697E-40B9-8C85-77B2D4D69ACB}"/>
              </a:ext>
            </a:extLst>
          </p:cNvPr>
          <p:cNvSpPr/>
          <p:nvPr/>
        </p:nvSpPr>
        <p:spPr>
          <a:xfrm>
            <a:off x="7837140" y="804863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Roshdy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25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7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8" grpId="0" animBg="1"/>
      <p:bldP spid="30" grpId="0" animBg="1"/>
      <p:bldP spid="32" grpId="0" animBg="1"/>
      <p:bldP spid="34" grpId="0" animBg="1"/>
      <p:bldP spid="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514475"/>
            <a:ext cx="2514600" cy="152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25" y="1514475"/>
            <a:ext cx="25146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514475"/>
            <a:ext cx="2514600" cy="1524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925" y="1514475"/>
            <a:ext cx="2514600" cy="152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324225"/>
            <a:ext cx="5200650" cy="28765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3324225"/>
            <a:ext cx="5200650" cy="28765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7620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Methods Agree</a:t>
            </a:r>
            <a:endParaRPr lang="en-US" sz="3400" dirty="0"/>
          </a:p>
        </p:txBody>
      </p:sp>
      <p:sp>
        <p:nvSpPr>
          <p:cNvPr id="12" name="Text 1"/>
          <p:cNvSpPr/>
          <p:nvPr/>
        </p:nvSpPr>
        <p:spPr>
          <a:xfrm>
            <a:off x="100012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13" name="Text 2"/>
          <p:cNvSpPr/>
          <p:nvPr/>
        </p:nvSpPr>
        <p:spPr>
          <a:xfrm>
            <a:off x="1000125" y="2028825"/>
            <a:ext cx="201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0.72–0.73</a:t>
            </a:r>
            <a:endParaRPr lang="en-US" sz="2500" dirty="0"/>
          </a:p>
        </p:txBody>
      </p:sp>
      <p:sp>
        <p:nvSpPr>
          <p:cNvPr id="14" name="Text 3"/>
          <p:cNvSpPr/>
          <p:nvPr/>
        </p:nvSpPr>
        <p:spPr>
          <a:xfrm>
            <a:off x="372427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MSE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3724275" y="20288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900</a:t>
            </a:r>
            <a:endParaRPr lang="en-US" sz="2500" dirty="0"/>
          </a:p>
        </p:txBody>
      </p:sp>
      <p:sp>
        <p:nvSpPr>
          <p:cNvPr id="16" name="Text 5"/>
          <p:cNvSpPr/>
          <p:nvPr/>
        </p:nvSpPr>
        <p:spPr>
          <a:xfrm>
            <a:off x="644842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Predictions within</a:t>
            </a:r>
            <a:endParaRPr lang="en-US" sz="900" dirty="0"/>
          </a:p>
        </p:txBody>
      </p:sp>
      <p:sp>
        <p:nvSpPr>
          <p:cNvPr id="17" name="Text 6"/>
          <p:cNvSpPr/>
          <p:nvPr/>
        </p:nvSpPr>
        <p:spPr>
          <a:xfrm>
            <a:off x="6448425" y="20288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g/km</a:t>
            </a:r>
            <a:endParaRPr lang="en-US" sz="2500" dirty="0"/>
          </a:p>
        </p:txBody>
      </p:sp>
      <p:sp>
        <p:nvSpPr>
          <p:cNvPr id="18" name="Text 7"/>
          <p:cNvSpPr/>
          <p:nvPr/>
        </p:nvSpPr>
        <p:spPr>
          <a:xfrm>
            <a:off x="9172575" y="17621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diff vs sklearn</a:t>
            </a:r>
            <a:endParaRPr lang="en-US" sz="900" dirty="0"/>
          </a:p>
        </p:txBody>
      </p:sp>
      <p:sp>
        <p:nvSpPr>
          <p:cNvPr id="19" name="Text 8"/>
          <p:cNvSpPr/>
          <p:nvPr/>
        </p:nvSpPr>
        <p:spPr>
          <a:xfrm>
            <a:off x="9172575" y="20288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10⁻¹²</a:t>
            </a:r>
            <a:endParaRPr lang="en-US" sz="25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 rotWithShape="1">
          <a:blip r:embed="rId8"/>
          <a:srcRect t="6309"/>
          <a:stretch/>
        </p:blipFill>
        <p:spPr>
          <a:xfrm>
            <a:off x="990600" y="3713796"/>
            <a:ext cx="4724400" cy="2248853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 rotWithShape="1">
          <a:blip r:embed="rId9"/>
          <a:srcRect t="9922"/>
          <a:stretch/>
        </p:blipFill>
        <p:spPr>
          <a:xfrm>
            <a:off x="6477000" y="3800474"/>
            <a:ext cx="4724400" cy="2162175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E05DBA43-D118-47E6-B6EF-D53E97CFE16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94246"/>
          <a:stretch/>
        </p:blipFill>
        <p:spPr>
          <a:xfrm>
            <a:off x="990600" y="3575685"/>
            <a:ext cx="4724400" cy="138112"/>
          </a:xfrm>
          <a:prstGeom prst="rect">
            <a:avLst/>
          </a:prstGeom>
        </p:spPr>
      </p:pic>
      <p:pic>
        <p:nvPicPr>
          <p:cNvPr id="29" name="Image 10" descr="preencoded.png">
            <a:extLst>
              <a:ext uri="{FF2B5EF4-FFF2-40B4-BE49-F238E27FC236}">
                <a16:creationId xmlns:a16="http://schemas.microsoft.com/office/drawing/2014/main" id="{4C30FD2D-88AB-4FE8-A349-29F53338DD6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92857"/>
          <a:stretch/>
        </p:blipFill>
        <p:spPr>
          <a:xfrm>
            <a:off x="6448425" y="3514724"/>
            <a:ext cx="4724400" cy="171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1000125"/>
            <a:ext cx="781050" cy="4571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590925"/>
            <a:ext cx="2076450" cy="1123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038600"/>
            <a:ext cx="142875" cy="133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1225" y="1781175"/>
            <a:ext cx="7896225" cy="48863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1225" y="3590925"/>
            <a:ext cx="2009775" cy="11239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5550" y="4038600"/>
            <a:ext cx="142875" cy="1333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635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the Model Learn</a:t>
            </a:r>
            <a:endParaRPr lang="en-US" sz="3400" dirty="0"/>
          </a:p>
        </p:txBody>
      </p:sp>
      <p:sp>
        <p:nvSpPr>
          <p:cNvPr id="11" name="Text 1"/>
          <p:cNvSpPr/>
          <p:nvPr/>
        </p:nvSpPr>
        <p:spPr>
          <a:xfrm>
            <a:off x="762000" y="161925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D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error drop, then stable convergence.</a:t>
            </a:r>
            <a:endParaRPr lang="en-US" sz="1700" dirty="0"/>
          </a:p>
        </p:txBody>
      </p:sp>
      <p:sp>
        <p:nvSpPr>
          <p:cNvPr id="12" name="Text 2"/>
          <p:cNvSpPr/>
          <p:nvPr/>
        </p:nvSpPr>
        <p:spPr>
          <a:xfrm>
            <a:off x="938213" y="3838575"/>
            <a:ext cx="1190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learning
phase</a:t>
            </a:r>
            <a:endParaRPr lang="en-US" sz="12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1300" y="2381250"/>
            <a:ext cx="6696075" cy="344805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0358438" y="3838575"/>
            <a:ext cx="1123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
plateau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05C9DA2F-DC7A-4904-B112-DD0475BF7A0C}"/>
              </a:ext>
            </a:extLst>
          </p:cNvPr>
          <p:cNvSpPr/>
          <p:nvPr/>
        </p:nvSpPr>
        <p:spPr>
          <a:xfrm>
            <a:off x="7886700" y="798195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343025"/>
            <a:ext cx="133350" cy="133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1552575"/>
            <a:ext cx="10267950" cy="53054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762000"/>
            <a:ext cx="501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Math to Reality</a:t>
            </a:r>
            <a:endParaRPr lang="en-US" sz="3400" dirty="0"/>
          </a:p>
        </p:txBody>
      </p:sp>
      <p:sp>
        <p:nvSpPr>
          <p:cNvPr id="8" name="Text 1"/>
          <p:cNvSpPr/>
          <p:nvPr/>
        </p:nvSpPr>
        <p:spPr>
          <a:xfrm>
            <a:off x="1028700" y="1295400"/>
            <a:ext cx="53686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Insight: A simple linear model produces practical accuracy (</a:t>
            </a: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±30 g/km</a:t>
            </a: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1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" y="2152650"/>
            <a:ext cx="9067800" cy="411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762000" y="66484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" y="-6096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962025"/>
            <a:ext cx="781050" cy="571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5"/>
          <a:srcRect t="17000" r="45333"/>
          <a:stretch/>
        </p:blipFill>
        <p:spPr>
          <a:xfrm>
            <a:off x="2267152" y="4620856"/>
            <a:ext cx="3829968" cy="38766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985" y="4578721"/>
            <a:ext cx="64764" cy="809551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7620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3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5F5572-7EAE-41C5-8C78-3BE1F85D3625}"/>
              </a:ext>
            </a:extLst>
          </p:cNvPr>
          <p:cNvGrpSpPr/>
          <p:nvPr/>
        </p:nvGrpSpPr>
        <p:grpSpPr>
          <a:xfrm>
            <a:off x="752475" y="1930553"/>
            <a:ext cx="3371850" cy="2686050"/>
            <a:chOff x="752475" y="1943100"/>
            <a:chExt cx="3371850" cy="2686050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2475" y="1943100"/>
              <a:ext cx="3371850" cy="268605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24075" y="2257425"/>
              <a:ext cx="628650" cy="628650"/>
            </a:xfrm>
            <a:prstGeom prst="rect">
              <a:avLst/>
            </a:prstGeom>
          </p:spPr>
        </p:pic>
        <p:pic>
          <p:nvPicPr>
            <p:cNvPr id="15" name="Image 12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95525" y="2409825"/>
              <a:ext cx="285750" cy="323850"/>
            </a:xfrm>
            <a:prstGeom prst="rect">
              <a:avLst/>
            </a:prstGeom>
          </p:spPr>
        </p:pic>
        <p:sp>
          <p:nvSpPr>
            <p:cNvPr id="16" name="Text 1"/>
            <p:cNvSpPr/>
            <p:nvPr/>
          </p:nvSpPr>
          <p:spPr>
            <a:xfrm>
              <a:off x="1238250" y="3105150"/>
              <a:ext cx="24003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Mathematical Truth</a:t>
              </a:r>
              <a:endParaRPr lang="en-US" sz="1700" dirty="0"/>
            </a:p>
          </p:txBody>
        </p:sp>
        <p:sp>
          <p:nvSpPr>
            <p:cNvPr id="17" name="Text 2"/>
            <p:cNvSpPr/>
            <p:nvPr/>
          </p:nvSpPr>
          <p:spPr>
            <a:xfrm>
              <a:off x="1076325" y="3562350"/>
              <a:ext cx="2724150" cy="742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Linear algebra fundamentals are sufficient to build regression end-to-end</a:t>
              </a:r>
              <a:endParaRPr lang="en-US" sz="11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C63B0A-EF36-494B-B750-1EF6B579CB01}"/>
              </a:ext>
            </a:extLst>
          </p:cNvPr>
          <p:cNvGrpSpPr/>
          <p:nvPr/>
        </p:nvGrpSpPr>
        <p:grpSpPr>
          <a:xfrm>
            <a:off x="4410075" y="1943100"/>
            <a:ext cx="3371850" cy="2686050"/>
            <a:chOff x="4410075" y="1943100"/>
            <a:chExt cx="3371850" cy="268605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10075" y="1943100"/>
              <a:ext cx="3371850" cy="268605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81675" y="2257425"/>
              <a:ext cx="628650" cy="628650"/>
            </a:xfrm>
            <a:prstGeom prst="rect">
              <a:avLst/>
            </a:prstGeom>
          </p:spPr>
        </p:pic>
        <p:pic>
          <p:nvPicPr>
            <p:cNvPr id="18" name="Image 13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72175" y="2409825"/>
              <a:ext cx="247650" cy="323850"/>
            </a:xfrm>
            <a:prstGeom prst="rect">
              <a:avLst/>
            </a:prstGeom>
          </p:spPr>
        </p:pic>
        <p:sp>
          <p:nvSpPr>
            <p:cNvPr id="19" name="Text 3"/>
            <p:cNvSpPr/>
            <p:nvPr/>
          </p:nvSpPr>
          <p:spPr>
            <a:xfrm>
              <a:off x="4962525" y="3105150"/>
              <a:ext cx="22669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Practical Insight</a:t>
              </a:r>
              <a:endParaRPr lang="en-US" sz="1700" dirty="0"/>
            </a:p>
          </p:txBody>
        </p:sp>
        <p:sp>
          <p:nvSpPr>
            <p:cNvPr id="20" name="Text 4"/>
            <p:cNvSpPr/>
            <p:nvPr/>
          </p:nvSpPr>
          <p:spPr>
            <a:xfrm>
              <a:off x="4733925" y="3562350"/>
              <a:ext cx="2724150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From-scratch weights match sklearn (≈ 10⁻¹² difference)</a:t>
              </a:r>
              <a:endParaRPr lang="en-US" sz="11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351E3D-9928-4FF1-8470-7653DFECA640}"/>
              </a:ext>
            </a:extLst>
          </p:cNvPr>
          <p:cNvGrpSpPr/>
          <p:nvPr/>
        </p:nvGrpSpPr>
        <p:grpSpPr>
          <a:xfrm>
            <a:off x="4451350" y="5095875"/>
            <a:ext cx="3219450" cy="1162050"/>
            <a:chOff x="4451350" y="5095875"/>
            <a:chExt cx="3219450" cy="1162050"/>
          </a:xfrm>
        </p:grpSpPr>
        <p:pic>
          <p:nvPicPr>
            <p:cNvPr id="24" name="Image 15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51350" y="5095875"/>
              <a:ext cx="3219450" cy="1162050"/>
            </a:xfrm>
            <a:prstGeom prst="rect">
              <a:avLst/>
            </a:prstGeom>
          </p:spPr>
        </p:pic>
        <p:sp>
          <p:nvSpPr>
            <p:cNvPr id="25" name="Text 7"/>
            <p:cNvSpPr/>
            <p:nvPr/>
          </p:nvSpPr>
          <p:spPr>
            <a:xfrm>
              <a:off x="5391150" y="5534025"/>
              <a:ext cx="171450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Green AI impact</a:t>
              </a:r>
              <a:endParaRPr lang="en-US" sz="1400" dirty="0"/>
            </a:p>
          </p:txBody>
        </p:sp>
        <p:pic>
          <p:nvPicPr>
            <p:cNvPr id="26" name="Image 16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76825" y="5562600"/>
              <a:ext cx="209550" cy="209550"/>
            </a:xfrm>
            <a:prstGeom prst="rect">
              <a:avLst/>
            </a:prstGeom>
          </p:spPr>
        </p:pic>
      </p:grpSp>
      <p:sp>
        <p:nvSpPr>
          <p:cNvPr id="27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pic>
        <p:nvPicPr>
          <p:cNvPr id="33" name="Image 9" descr="preencoded.png">
            <a:extLst>
              <a:ext uri="{FF2B5EF4-FFF2-40B4-BE49-F238E27FC236}">
                <a16:creationId xmlns:a16="http://schemas.microsoft.com/office/drawing/2014/main" id="{AA547ACA-9FE4-41DF-88C3-5B46317F48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600" t="-10934"/>
          <a:stretch/>
        </p:blipFill>
        <p:spPr>
          <a:xfrm>
            <a:off x="6117589" y="4481158"/>
            <a:ext cx="3743325" cy="52832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39747058-CEE3-43F4-97B4-786BE405390E}"/>
              </a:ext>
            </a:extLst>
          </p:cNvPr>
          <p:cNvGrpSpPr/>
          <p:nvPr/>
        </p:nvGrpSpPr>
        <p:grpSpPr>
          <a:xfrm>
            <a:off x="8067675" y="1943100"/>
            <a:ext cx="3371850" cy="2686050"/>
            <a:chOff x="8067675" y="1943100"/>
            <a:chExt cx="3371850" cy="268605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67675" y="1943100"/>
              <a:ext cx="3371850" cy="268605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39275" y="2257425"/>
              <a:ext cx="628650" cy="628650"/>
            </a:xfrm>
            <a:prstGeom prst="rect">
              <a:avLst/>
            </a:prstGeom>
          </p:spPr>
        </p:pic>
        <p:pic>
          <p:nvPicPr>
            <p:cNvPr id="21" name="Image 1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629775" y="2409825"/>
              <a:ext cx="247650" cy="323850"/>
            </a:xfrm>
            <a:prstGeom prst="rect">
              <a:avLst/>
            </a:prstGeom>
          </p:spPr>
        </p:pic>
        <p:sp>
          <p:nvSpPr>
            <p:cNvPr id="22" name="Text 5"/>
            <p:cNvSpPr/>
            <p:nvPr/>
          </p:nvSpPr>
          <p:spPr>
            <a:xfrm>
              <a:off x="8620125" y="3105150"/>
              <a:ext cx="22669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Real-World Impact</a:t>
              </a:r>
              <a:endParaRPr lang="en-US" sz="1700" dirty="0"/>
            </a:p>
          </p:txBody>
        </p:sp>
        <p:sp>
          <p:nvSpPr>
            <p:cNvPr id="23" name="Text 6"/>
            <p:cNvSpPr/>
            <p:nvPr/>
          </p:nvSpPr>
          <p:spPr>
            <a:xfrm>
              <a:off x="8391525" y="3562350"/>
              <a:ext cx="2724150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B6B6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Emission predictions support sustainability decisions</a:t>
              </a:r>
              <a:endParaRPr lang="en-US" sz="1100" dirty="0"/>
            </a:p>
          </p:txBody>
        </p:sp>
      </p:grpSp>
      <p:sp>
        <p:nvSpPr>
          <p:cNvPr id="35" name="Text 0">
            <a:extLst>
              <a:ext uri="{FF2B5EF4-FFF2-40B4-BE49-F238E27FC236}">
                <a16:creationId xmlns:a16="http://schemas.microsoft.com/office/drawing/2014/main" id="{466B0728-EB3F-48FD-ABE9-5C348213414A}"/>
              </a:ext>
            </a:extLst>
          </p:cNvPr>
          <p:cNvSpPr/>
          <p:nvPr/>
        </p:nvSpPr>
        <p:spPr>
          <a:xfrm>
            <a:off x="6061075" y="76200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</a:t>
            </a:r>
            <a:endParaRPr lang="en-US" sz="3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0305" y="246855"/>
            <a:ext cx="12192000" cy="685800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3473955" y="2227271"/>
            <a:ext cx="5145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5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B061A25-7188-4668-8130-DF5BFD7DE53A}"/>
              </a:ext>
            </a:extLst>
          </p:cNvPr>
          <p:cNvGrpSpPr/>
          <p:nvPr/>
        </p:nvGrpSpPr>
        <p:grpSpPr>
          <a:xfrm>
            <a:off x="2672081" y="490626"/>
            <a:ext cx="6583680" cy="5240655"/>
            <a:chOff x="2867025" y="895350"/>
            <a:chExt cx="6448425" cy="5076825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6875" y="2162175"/>
              <a:ext cx="1238250" cy="762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025" y="3514725"/>
              <a:ext cx="323850" cy="32385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475" y="3514725"/>
              <a:ext cx="323850" cy="32385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025" y="4048125"/>
              <a:ext cx="323850" cy="32385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475" y="4048125"/>
              <a:ext cx="323850" cy="32385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67025" y="4581525"/>
              <a:ext cx="323850" cy="32385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48475" y="4581525"/>
              <a:ext cx="323850" cy="32385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025" y="5114925"/>
              <a:ext cx="323850" cy="32385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475" y="5114925"/>
              <a:ext cx="323850" cy="32385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86325" y="5648325"/>
              <a:ext cx="333375" cy="323850"/>
            </a:xfrm>
            <a:prstGeom prst="rect">
              <a:avLst/>
            </a:prstGeom>
          </p:spPr>
        </p:pic>
        <p:sp>
          <p:nvSpPr>
            <p:cNvPr id="15" name="Text 0"/>
            <p:cNvSpPr/>
            <p:nvPr/>
          </p:nvSpPr>
          <p:spPr>
            <a:xfrm>
              <a:off x="3523059" y="895350"/>
              <a:ext cx="5145881" cy="1047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Thank You</a:t>
              </a:r>
              <a:endParaRPr lang="en-US" sz="7800" dirty="0"/>
            </a:p>
          </p:txBody>
        </p:sp>
        <p:pic>
          <p:nvPicPr>
            <p:cNvPr id="17" name="Image 13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52750" y="3600450"/>
              <a:ext cx="152400" cy="152400"/>
            </a:xfrm>
            <a:prstGeom prst="rect">
              <a:avLst/>
            </a:prstGeom>
          </p:spPr>
        </p:pic>
        <p:sp>
          <p:nvSpPr>
            <p:cNvPr id="18" name="Text 2"/>
            <p:cNvSpPr/>
            <p:nvPr/>
          </p:nvSpPr>
          <p:spPr>
            <a:xfrm>
              <a:off x="3333750" y="3524250"/>
              <a:ext cx="1600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Ahmed Roshdy</a:t>
              </a:r>
              <a:endParaRPr lang="en-US" sz="1700" dirty="0"/>
            </a:p>
          </p:txBody>
        </p:sp>
        <p:pic>
          <p:nvPicPr>
            <p:cNvPr id="19" name="Image 14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34200" y="3600450"/>
              <a:ext cx="152400" cy="152400"/>
            </a:xfrm>
            <a:prstGeom prst="rect">
              <a:avLst/>
            </a:prstGeom>
          </p:spPr>
        </p:pic>
        <p:sp>
          <p:nvSpPr>
            <p:cNvPr id="20" name="Text 3"/>
            <p:cNvSpPr/>
            <p:nvPr/>
          </p:nvSpPr>
          <p:spPr>
            <a:xfrm>
              <a:off x="7315200" y="3524250"/>
              <a:ext cx="14668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Khalid Osam</a:t>
              </a:r>
              <a:endParaRPr lang="en-US" sz="1700" dirty="0"/>
            </a:p>
          </p:txBody>
        </p:sp>
        <p:pic>
          <p:nvPicPr>
            <p:cNvPr id="21" name="Image 1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52750" y="4133850"/>
              <a:ext cx="152400" cy="152400"/>
            </a:xfrm>
            <a:prstGeom prst="rect">
              <a:avLst/>
            </a:prstGeom>
          </p:spPr>
        </p:pic>
        <p:sp>
          <p:nvSpPr>
            <p:cNvPr id="22" name="Text 4"/>
            <p:cNvSpPr/>
            <p:nvPr/>
          </p:nvSpPr>
          <p:spPr>
            <a:xfrm>
              <a:off x="3333750" y="4057650"/>
              <a:ext cx="14668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Omar Shaker</a:t>
              </a:r>
              <a:endParaRPr lang="en-US" sz="1700" dirty="0"/>
            </a:p>
          </p:txBody>
        </p:sp>
        <p:pic>
          <p:nvPicPr>
            <p:cNvPr id="23" name="Image 1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34200" y="4133850"/>
              <a:ext cx="152400" cy="152400"/>
            </a:xfrm>
            <a:prstGeom prst="rect">
              <a:avLst/>
            </a:prstGeom>
          </p:spPr>
        </p:pic>
        <p:sp>
          <p:nvSpPr>
            <p:cNvPr id="24" name="Text 5"/>
            <p:cNvSpPr/>
            <p:nvPr/>
          </p:nvSpPr>
          <p:spPr>
            <a:xfrm>
              <a:off x="7315200" y="4057650"/>
              <a:ext cx="14668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Yousef Hany</a:t>
              </a:r>
              <a:endParaRPr lang="en-US" sz="1700" dirty="0"/>
            </a:p>
          </p:txBody>
        </p:sp>
        <p:pic>
          <p:nvPicPr>
            <p:cNvPr id="25" name="Image 1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52750" y="4667250"/>
              <a:ext cx="152400" cy="152400"/>
            </a:xfrm>
            <a:prstGeom prst="rect">
              <a:avLst/>
            </a:prstGeom>
          </p:spPr>
        </p:pic>
        <p:sp>
          <p:nvSpPr>
            <p:cNvPr id="26" name="Text 6"/>
            <p:cNvSpPr/>
            <p:nvPr/>
          </p:nvSpPr>
          <p:spPr>
            <a:xfrm>
              <a:off x="3333750" y="4591050"/>
              <a:ext cx="13335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Mark Tamer</a:t>
              </a:r>
              <a:endParaRPr lang="en-US" sz="1700" dirty="0"/>
            </a:p>
          </p:txBody>
        </p:sp>
        <p:pic>
          <p:nvPicPr>
            <p:cNvPr id="27" name="Image 1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34200" y="4667250"/>
              <a:ext cx="152400" cy="152400"/>
            </a:xfrm>
            <a:prstGeom prst="rect">
              <a:avLst/>
            </a:prstGeom>
          </p:spPr>
        </p:pic>
        <p:sp>
          <p:nvSpPr>
            <p:cNvPr id="28" name="Text 7"/>
            <p:cNvSpPr/>
            <p:nvPr/>
          </p:nvSpPr>
          <p:spPr>
            <a:xfrm>
              <a:off x="7315200" y="4591050"/>
              <a:ext cx="1600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Hassan Eslam</a:t>
              </a:r>
              <a:endParaRPr lang="en-US" sz="1700" dirty="0"/>
            </a:p>
          </p:txBody>
        </p:sp>
        <p:pic>
          <p:nvPicPr>
            <p:cNvPr id="29" name="Image 1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52750" y="5200650"/>
              <a:ext cx="152400" cy="152400"/>
            </a:xfrm>
            <a:prstGeom prst="rect">
              <a:avLst/>
            </a:prstGeom>
          </p:spPr>
        </p:pic>
        <p:sp>
          <p:nvSpPr>
            <p:cNvPr id="30" name="Text 8"/>
            <p:cNvSpPr/>
            <p:nvPr/>
          </p:nvSpPr>
          <p:spPr>
            <a:xfrm>
              <a:off x="3333750" y="5124450"/>
              <a:ext cx="14668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Carlos Emad</a:t>
              </a:r>
              <a:endParaRPr lang="en-US" sz="1700" dirty="0"/>
            </a:p>
          </p:txBody>
        </p:sp>
        <p:pic>
          <p:nvPicPr>
            <p:cNvPr id="31" name="Image 20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34200" y="5200650"/>
              <a:ext cx="152400" cy="152400"/>
            </a:xfrm>
            <a:prstGeom prst="rect">
              <a:avLst/>
            </a:prstGeom>
          </p:spPr>
        </p:pic>
        <p:sp>
          <p:nvSpPr>
            <p:cNvPr id="32" name="Text 9"/>
            <p:cNvSpPr/>
            <p:nvPr/>
          </p:nvSpPr>
          <p:spPr>
            <a:xfrm>
              <a:off x="7315200" y="5124450"/>
              <a:ext cx="20002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Mohamed Elsayed</a:t>
              </a:r>
              <a:endParaRPr lang="en-US" sz="1700" dirty="0"/>
            </a:p>
          </p:txBody>
        </p:sp>
        <p:pic>
          <p:nvPicPr>
            <p:cNvPr id="33" name="Image 21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2050" y="5734050"/>
              <a:ext cx="161925" cy="152400"/>
            </a:xfrm>
            <a:prstGeom prst="rect">
              <a:avLst/>
            </a:prstGeom>
          </p:spPr>
        </p:pic>
        <p:sp>
          <p:nvSpPr>
            <p:cNvPr id="34" name="Text 10"/>
            <p:cNvSpPr/>
            <p:nvPr/>
          </p:nvSpPr>
          <p:spPr>
            <a:xfrm>
              <a:off x="5351163" y="5657850"/>
              <a:ext cx="14668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Ahmed Fouad</a:t>
              </a:r>
              <a:endParaRPr lang="en-US" sz="1700" dirty="0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AC5A4150-F22A-4550-A87A-3AAC9C57BE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7944" y="5155757"/>
            <a:ext cx="1628114" cy="1628114"/>
          </a:xfrm>
          <a:prstGeom prst="rect">
            <a:avLst/>
          </a:prstGeom>
        </p:spPr>
      </p:pic>
      <p:sp>
        <p:nvSpPr>
          <p:cNvPr id="3" name="AutoShape 2" descr="أول تعليق من محمد رجب عن ظهوره في مسلسل الحشاشين بعد 20 سنة من «الباشا ...">
            <a:extLst>
              <a:ext uri="{FF2B5EF4-FFF2-40B4-BE49-F238E27FC236}">
                <a16:creationId xmlns:a16="http://schemas.microsoft.com/office/drawing/2014/main" id="{6BF2B2BD-5748-4C3A-BC14-E5A289C35B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AutoShape 4" descr="أول تعليق من محمد رجب عن ظهوره في مسلسل الحشاشين بعد 20 سنة من «الباشا ...">
            <a:extLst>
              <a:ext uri="{FF2B5EF4-FFF2-40B4-BE49-F238E27FC236}">
                <a16:creationId xmlns:a16="http://schemas.microsoft.com/office/drawing/2014/main" id="{920BD910-B988-46C6-AF72-E4775447AE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B06D58A-5010-4B5F-AFA2-7630C848A0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470" y="90685"/>
            <a:ext cx="2672126" cy="2965270"/>
          </a:xfrm>
          <a:prstGeom prst="rect">
            <a:avLst/>
          </a:prstGeom>
        </p:spPr>
      </p:pic>
      <p:sp>
        <p:nvSpPr>
          <p:cNvPr id="40" name="Text 6">
            <a:extLst>
              <a:ext uri="{FF2B5EF4-FFF2-40B4-BE49-F238E27FC236}">
                <a16:creationId xmlns:a16="http://schemas.microsoft.com/office/drawing/2014/main" id="{C2E20534-97FB-4AB5-9CF1-35A8D9CD9D14}"/>
              </a:ext>
            </a:extLst>
          </p:cNvPr>
          <p:cNvSpPr/>
          <p:nvPr/>
        </p:nvSpPr>
        <p:spPr>
          <a:xfrm>
            <a:off x="956620" y="2990796"/>
            <a:ext cx="1671699" cy="31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Directed by Mark Tamer</a:t>
            </a:r>
            <a:endParaRPr lang="en-US" sz="105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FC51136C-1F81-458C-B120-8851AF33E6CB}"/>
              </a:ext>
            </a:extLst>
          </p:cNvPr>
          <p:cNvSpPr/>
          <p:nvPr/>
        </p:nvSpPr>
        <p:spPr>
          <a:xfrm>
            <a:off x="9950812" y="4777541"/>
            <a:ext cx="1671699" cy="31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Link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601</Words>
  <Application>Microsoft Office PowerPoint</Application>
  <PresentationFormat>Widescreen</PresentationFormat>
  <Paragraphs>188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Mohammed</dc:creator>
  <cp:lastModifiedBy>Ahmed Mohammed</cp:lastModifiedBy>
  <cp:revision>14</cp:revision>
  <dcterms:created xsi:type="dcterms:W3CDTF">2026-05-08T15:51:10Z</dcterms:created>
  <dcterms:modified xsi:type="dcterms:W3CDTF">2026-05-12T11:55:42Z</dcterms:modified>
</cp:coreProperties>
</file>