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" y="3886200"/>
            <a:ext cx="1238250" cy="1047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0" y="4543425"/>
            <a:ext cx="5019675" cy="17145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09600" y="2165152"/>
            <a:ext cx="7620000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from Scratch</a:t>
            </a:r>
            <a:endParaRPr lang="en-US" sz="5100" dirty="0"/>
          </a:p>
        </p:txBody>
      </p:sp>
      <p:sp>
        <p:nvSpPr>
          <p:cNvPr id="9" name="Text 1"/>
          <p:cNvSpPr/>
          <p:nvPr/>
        </p:nvSpPr>
        <p:spPr>
          <a:xfrm>
            <a:off x="609600" y="4207073"/>
            <a:ext cx="76200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D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CO₂ Emissions with Pure Mathematics</a:t>
            </a:r>
            <a:endParaRPr lang="en-US" sz="2500" dirty="0"/>
          </a:p>
        </p:txBody>
      </p:sp>
      <p:sp>
        <p:nvSpPr>
          <p:cNvPr id="10" name="Text 2"/>
          <p:cNvSpPr/>
          <p:nvPr/>
        </p:nvSpPr>
        <p:spPr>
          <a:xfrm>
            <a:off x="6819900" y="4791075"/>
            <a:ext cx="452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 204 — Linear Algebra for Computer Science</a:t>
            </a:r>
            <a:endParaRPr lang="en-US" sz="1400" dirty="0"/>
          </a:p>
        </p:txBody>
      </p:sp>
      <p:sp>
        <p:nvSpPr>
          <p:cNvPr id="11" name="Text 3"/>
          <p:cNvSpPr/>
          <p:nvPr/>
        </p:nvSpPr>
        <p:spPr>
          <a:xfrm>
            <a:off x="6819900" y="5133975"/>
            <a:ext cx="452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 International University in Egypt</a:t>
            </a:r>
            <a:endParaRPr lang="en-US" sz="1200" dirty="0"/>
          </a:p>
        </p:txBody>
      </p:sp>
      <p:sp>
        <p:nvSpPr>
          <p:cNvPr id="12" name="Text 4"/>
          <p:cNvSpPr/>
          <p:nvPr/>
        </p:nvSpPr>
        <p:spPr>
          <a:xfrm>
            <a:off x="6819900" y="5438775"/>
            <a:ext cx="452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Instructor: Dr. Doaa Elsakout</a:t>
            </a:r>
            <a:endParaRPr lang="en-US" sz="1200" dirty="0"/>
          </a:p>
        </p:txBody>
      </p:sp>
      <p:sp>
        <p:nvSpPr>
          <p:cNvPr id="13" name="Text 5"/>
          <p:cNvSpPr/>
          <p:nvPr/>
        </p:nvSpPr>
        <p:spPr>
          <a:xfrm>
            <a:off x="6819900" y="5743575"/>
            <a:ext cx="452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Year: 2025/2026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714500"/>
            <a:ext cx="5162550" cy="14287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457575"/>
            <a:ext cx="400050" cy="4095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029075"/>
            <a:ext cx="400050" cy="4095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5010150"/>
            <a:ext cx="5162550" cy="8763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1225" y="1219200"/>
            <a:ext cx="5734050" cy="51625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62000" y="762000"/>
            <a:ext cx="5991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CO₂ Emissions Matter</a:t>
            </a:r>
            <a:endParaRPr lang="en-US" sz="3400" dirty="0"/>
          </a:p>
        </p:txBody>
      </p:sp>
      <p:sp>
        <p:nvSpPr>
          <p:cNvPr id="11" name="Text 1"/>
          <p:cNvSpPr/>
          <p:nvPr/>
        </p:nvSpPr>
        <p:spPr>
          <a:xfrm>
            <a:off x="1000125" y="1962150"/>
            <a:ext cx="46672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 accounts for a major share of global emissions; predicting vehicle CO₂ supports sustainability decisions.</a:t>
            </a:r>
            <a:endParaRPr lang="en-US" sz="1400" dirty="0"/>
          </a:p>
        </p:txBody>
      </p:sp>
      <p:pic>
        <p:nvPicPr>
          <p:cNvPr id="1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3562350"/>
            <a:ext cx="190500" cy="200025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1295400" y="3433763"/>
            <a:ext cx="46101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Emissions depend on engine characteristics</a:t>
            </a:r>
            <a:endParaRPr lang="en-US" sz="1200" dirty="0"/>
          </a:p>
        </p:txBody>
      </p:sp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" y="4133850"/>
            <a:ext cx="190500" cy="200025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1295400" y="4005262"/>
            <a:ext cx="46101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 enables policy/standards, consumer awareness, and fleet planning</a:t>
            </a:r>
            <a:endParaRPr lang="en-US" sz="1200" dirty="0"/>
          </a:p>
        </p:txBody>
      </p:sp>
      <p:sp>
        <p:nvSpPr>
          <p:cNvPr id="16" name="Text 4"/>
          <p:cNvSpPr/>
          <p:nvPr/>
        </p:nvSpPr>
        <p:spPr>
          <a:xfrm>
            <a:off x="923925" y="5353050"/>
            <a:ext cx="14159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 specs</a:t>
            </a:r>
            <a:endParaRPr lang="en-US" sz="900" dirty="0"/>
          </a:p>
        </p:txBody>
      </p:sp>
      <p:pic>
        <p:nvPicPr>
          <p:cNvPr id="1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00300" y="5362575"/>
            <a:ext cx="161925" cy="17145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2625626" y="5257800"/>
            <a:ext cx="141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CO₂ prediction model</a:t>
            </a:r>
            <a:endParaRPr lang="en-US" sz="900" dirty="0"/>
          </a:p>
        </p:txBody>
      </p:sp>
      <p:pic>
        <p:nvPicPr>
          <p:cNvPr id="1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05275" y="5362575"/>
            <a:ext cx="161925" cy="17145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4327475" y="5181600"/>
            <a:ext cx="1416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impact</a:t>
            </a:r>
            <a:endParaRPr lang="en-US" sz="900" dirty="0"/>
          </a:p>
        </p:txBody>
      </p:sp>
      <p:sp>
        <p:nvSpPr>
          <p:cNvPr id="21" name="Text 7"/>
          <p:cNvSpPr/>
          <p:nvPr/>
        </p:nvSpPr>
        <p:spPr>
          <a:xfrm>
            <a:off x="4327475" y="5410200"/>
            <a:ext cx="141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(policy / product / consumer)</a:t>
            </a:r>
            <a:endParaRPr lang="en-US" sz="800" dirty="0"/>
          </a:p>
        </p:txBody>
      </p:sp>
      <p:sp>
        <p:nvSpPr>
          <p:cNvPr id="22" name="Text 8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0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781175"/>
            <a:ext cx="5162550" cy="12668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2019300"/>
            <a:ext cx="781050" cy="7905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286125"/>
            <a:ext cx="400050" cy="4095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3971925"/>
            <a:ext cx="400050" cy="4095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4772025"/>
            <a:ext cx="5162550" cy="10477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1225" y="1219200"/>
            <a:ext cx="5734050" cy="516255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762000" y="762000"/>
            <a:ext cx="8048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Data: Canadian Vehicles</a:t>
            </a:r>
            <a:endParaRPr lang="en-US" sz="3400" dirty="0"/>
          </a:p>
        </p:txBody>
      </p:sp>
      <p:sp>
        <p:nvSpPr>
          <p:cNvPr id="12" name="Text 1"/>
          <p:cNvSpPr/>
          <p:nvPr/>
        </p:nvSpPr>
        <p:spPr>
          <a:xfrm>
            <a:off x="1990725" y="2112169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</a:t>
            </a:r>
            <a:endParaRPr lang="en-US" sz="1700" dirty="0"/>
          </a:p>
        </p:txBody>
      </p:sp>
      <p:sp>
        <p:nvSpPr>
          <p:cNvPr id="13" name="Text 2"/>
          <p:cNvSpPr/>
          <p:nvPr/>
        </p:nvSpPr>
        <p:spPr>
          <a:xfrm>
            <a:off x="1990725" y="2455069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~7,385 vehicle records</a:t>
            </a:r>
            <a:endParaRPr lang="en-US" sz="1400" dirty="0"/>
          </a:p>
        </p:txBody>
      </p:sp>
      <p:sp>
        <p:nvSpPr>
          <p:cNvPr id="14" name="Text 3"/>
          <p:cNvSpPr/>
          <p:nvPr/>
        </p:nvSpPr>
        <p:spPr>
          <a:xfrm>
            <a:off x="904875" y="3378994"/>
            <a:ext cx="9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100" dirty="0"/>
          </a:p>
        </p:txBody>
      </p:sp>
      <p:sp>
        <p:nvSpPr>
          <p:cNvPr id="15" name="Text 4"/>
          <p:cNvSpPr/>
          <p:nvPr/>
        </p:nvSpPr>
        <p:spPr>
          <a:xfrm>
            <a:off x="1295400" y="3264694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6" name="Text 5"/>
          <p:cNvSpPr/>
          <p:nvPr/>
        </p:nvSpPr>
        <p:spPr>
          <a:xfrm>
            <a:off x="1295400" y="3569494"/>
            <a:ext cx="461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 Size (L), Cylinders</a:t>
            </a:r>
            <a:endParaRPr lang="en-US" sz="1100" dirty="0"/>
          </a:p>
        </p:txBody>
      </p:sp>
      <p:sp>
        <p:nvSpPr>
          <p:cNvPr id="17" name="Text 6"/>
          <p:cNvSpPr/>
          <p:nvPr/>
        </p:nvSpPr>
        <p:spPr>
          <a:xfrm>
            <a:off x="904875" y="4064794"/>
            <a:ext cx="9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100" dirty="0"/>
          </a:p>
        </p:txBody>
      </p:sp>
      <p:sp>
        <p:nvSpPr>
          <p:cNvPr id="18" name="Text 7"/>
          <p:cNvSpPr/>
          <p:nvPr/>
        </p:nvSpPr>
        <p:spPr>
          <a:xfrm>
            <a:off x="1295400" y="3950494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endParaRPr lang="en-US" sz="1200" dirty="0"/>
          </a:p>
        </p:txBody>
      </p:sp>
      <p:sp>
        <p:nvSpPr>
          <p:cNvPr id="19" name="Text 8"/>
          <p:cNvSpPr/>
          <p:nvPr/>
        </p:nvSpPr>
        <p:spPr>
          <a:xfrm>
            <a:off x="1295400" y="4255294"/>
            <a:ext cx="461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CO₂ emissions (g/km)</a:t>
            </a:r>
            <a:endParaRPr lang="en-US" sz="1100" dirty="0"/>
          </a:p>
        </p:txBody>
      </p:sp>
      <p:sp>
        <p:nvSpPr>
          <p:cNvPr id="20" name="Text 9"/>
          <p:cNvSpPr/>
          <p:nvPr/>
        </p:nvSpPr>
        <p:spPr>
          <a:xfrm>
            <a:off x="1028700" y="5017294"/>
            <a:ext cx="46482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intuitive features can explain a meaningful portion of emission variance.</a:t>
            </a:r>
            <a:endParaRPr lang="en-US" sz="1200" dirty="0"/>
          </a:p>
        </p:txBody>
      </p:sp>
      <p:sp>
        <p:nvSpPr>
          <p:cNvPr id="21" name="Text 10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850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571625"/>
            <a:ext cx="5124450" cy="1219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77165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076575"/>
            <a:ext cx="5124450" cy="1447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327660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4810125"/>
            <a:ext cx="5124450" cy="1219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5010150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5075" y="1533525"/>
            <a:ext cx="5124450" cy="1752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5075" y="3571875"/>
            <a:ext cx="5124450" cy="24955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9025" y="4305300"/>
            <a:ext cx="2876550" cy="1447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43825" y="541020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20075" y="5219700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96325" y="4933950"/>
            <a:ext cx="133350" cy="1333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72575" y="5029200"/>
            <a:ext cx="133350" cy="1333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48825" y="4552950"/>
            <a:ext cx="133350" cy="1333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29825" y="4362450"/>
            <a:ext cx="133350" cy="13335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762000" y="762000"/>
            <a:ext cx="6200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Algebra Foundations</a:t>
            </a:r>
            <a:endParaRPr lang="en-US" sz="3400" dirty="0"/>
          </a:p>
        </p:txBody>
      </p:sp>
      <p:pic>
        <p:nvPicPr>
          <p:cNvPr id="2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95375" y="1905000"/>
            <a:ext cx="190500" cy="209550"/>
          </a:xfrm>
          <a:prstGeom prst="rect">
            <a:avLst/>
          </a:prstGeom>
        </p:spPr>
      </p:pic>
      <p:sp>
        <p:nvSpPr>
          <p:cNvPr id="22" name="Text 1"/>
          <p:cNvSpPr/>
          <p:nvPr/>
        </p:nvSpPr>
        <p:spPr>
          <a:xfrm>
            <a:off x="1571625" y="1781175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 &amp; Matrices</a:t>
            </a:r>
            <a:endParaRPr lang="en-US" sz="1400" dirty="0"/>
          </a:p>
        </p:txBody>
      </p:sp>
      <p:sp>
        <p:nvSpPr>
          <p:cNvPr id="23" name="Text 2"/>
          <p:cNvSpPr/>
          <p:nvPr/>
        </p:nvSpPr>
        <p:spPr>
          <a:xfrm>
            <a:off x="1571625" y="2124075"/>
            <a:ext cx="4095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Representing data as </a:t>
            </a:r>
            <a:pPr indent="0" marL="0">
              <a:buNone/>
            </a:pPr>
            <a:r>
              <a:rPr lang="en-US" sz="1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(features), </a:t>
            </a:r>
            <a:pPr indent="0" marL="0">
              <a:buNone/>
            </a:pPr>
            <a:r>
              <a:rPr lang="en-US" sz="1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(targets), and </a:t>
            </a:r>
            <a:pPr indent="0" marL="0">
              <a:buNone/>
            </a:pPr>
            <a:r>
              <a:rPr lang="en-US" sz="1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indent="0" marL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(weights).</a:t>
            </a:r>
            <a:endParaRPr lang="en-US" sz="1100" dirty="0"/>
          </a:p>
        </p:txBody>
      </p:sp>
      <p:pic>
        <p:nvPicPr>
          <p:cNvPr id="2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5850" y="3409950"/>
            <a:ext cx="209550" cy="209550"/>
          </a:xfrm>
          <a:prstGeom prst="rect">
            <a:avLst/>
          </a:prstGeom>
        </p:spPr>
      </p:pic>
      <p:sp>
        <p:nvSpPr>
          <p:cNvPr id="25" name="Text 3"/>
          <p:cNvSpPr/>
          <p:nvPr/>
        </p:nvSpPr>
        <p:spPr>
          <a:xfrm>
            <a:off x="1571625" y="3286125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Minimizing Error</a:t>
            </a:r>
            <a:endParaRPr lang="en-US" sz="1400" dirty="0"/>
          </a:p>
        </p:txBody>
      </p:sp>
      <p:sp>
        <p:nvSpPr>
          <p:cNvPr id="26" name="Text 4"/>
          <p:cNvSpPr/>
          <p:nvPr/>
        </p:nvSpPr>
        <p:spPr>
          <a:xfrm>
            <a:off x="1571625" y="3629025"/>
            <a:ext cx="4095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 the optimal weights to reduce the difference between predictions and actual values.</a:t>
            </a:r>
            <a:endParaRPr lang="en-US" sz="1100" dirty="0"/>
          </a:p>
        </p:txBody>
      </p:sp>
      <p:pic>
        <p:nvPicPr>
          <p:cNvPr id="2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85850" y="5143500"/>
            <a:ext cx="209550" cy="209550"/>
          </a:xfrm>
          <a:prstGeom prst="rect">
            <a:avLst/>
          </a:prstGeom>
        </p:spPr>
      </p:pic>
      <p:sp>
        <p:nvSpPr>
          <p:cNvPr id="28" name="Text 5"/>
          <p:cNvSpPr/>
          <p:nvPr/>
        </p:nvSpPr>
        <p:spPr>
          <a:xfrm>
            <a:off x="1571625" y="5019675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Least Squares Concept</a:t>
            </a:r>
            <a:endParaRPr lang="en-US" sz="1400" dirty="0"/>
          </a:p>
        </p:txBody>
      </p:sp>
      <p:sp>
        <p:nvSpPr>
          <p:cNvPr id="29" name="Text 6"/>
          <p:cNvSpPr/>
          <p:nvPr/>
        </p:nvSpPr>
        <p:spPr>
          <a:xfrm>
            <a:off x="1571625" y="5362575"/>
            <a:ext cx="4095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Minimizing the sum of squared residuals to find the best-fitting line.</a:t>
            </a:r>
            <a:endParaRPr lang="en-US" sz="1100" dirty="0"/>
          </a:p>
        </p:txBody>
      </p:sp>
      <p:sp>
        <p:nvSpPr>
          <p:cNvPr id="30" name="Text 7"/>
          <p:cNvSpPr/>
          <p:nvPr/>
        </p:nvSpPr>
        <p:spPr>
          <a:xfrm>
            <a:off x="7777163" y="1857375"/>
            <a:ext cx="220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Representation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7981950" y="2276475"/>
            <a:ext cx="171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2100" dirty="0"/>
          </a:p>
        </p:txBody>
      </p:sp>
      <p:sp>
        <p:nvSpPr>
          <p:cNvPr id="32" name="Text 9"/>
          <p:cNvSpPr/>
          <p:nvPr/>
        </p:nvSpPr>
        <p:spPr>
          <a:xfrm>
            <a:off x="8305800" y="2276475"/>
            <a:ext cx="171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2100" dirty="0"/>
          </a:p>
        </p:txBody>
      </p:sp>
      <p:sp>
        <p:nvSpPr>
          <p:cNvPr id="33" name="Text 10"/>
          <p:cNvSpPr/>
          <p:nvPr/>
        </p:nvSpPr>
        <p:spPr>
          <a:xfrm>
            <a:off x="8629650" y="2276475"/>
            <a:ext cx="171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100" dirty="0"/>
          </a:p>
        </p:txBody>
      </p:sp>
      <p:sp>
        <p:nvSpPr>
          <p:cNvPr id="34" name="Text 11"/>
          <p:cNvSpPr/>
          <p:nvPr/>
        </p:nvSpPr>
        <p:spPr>
          <a:xfrm>
            <a:off x="8953500" y="2276475"/>
            <a:ext cx="171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7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2100" dirty="0"/>
          </a:p>
        </p:txBody>
      </p:sp>
      <p:sp>
        <p:nvSpPr>
          <p:cNvPr id="35" name="Text 12"/>
          <p:cNvSpPr/>
          <p:nvPr/>
        </p:nvSpPr>
        <p:spPr>
          <a:xfrm>
            <a:off x="9277350" y="2276475"/>
            <a:ext cx="171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2100" dirty="0"/>
          </a:p>
        </p:txBody>
      </p:sp>
      <p:sp>
        <p:nvSpPr>
          <p:cNvPr id="36" name="Text 13"/>
          <p:cNvSpPr/>
          <p:nvPr/>
        </p:nvSpPr>
        <p:spPr>
          <a:xfrm>
            <a:off x="9601200" y="2276475"/>
            <a:ext cx="171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2100" dirty="0"/>
          </a:p>
        </p:txBody>
      </p:sp>
      <p:sp>
        <p:nvSpPr>
          <p:cNvPr id="37" name="Text 14"/>
          <p:cNvSpPr/>
          <p:nvPr/>
        </p:nvSpPr>
        <p:spPr>
          <a:xfrm>
            <a:off x="7581900" y="2771775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Features × Weights + Bias</a:t>
            </a:r>
            <a:endParaRPr lang="en-US" sz="900" dirty="0"/>
          </a:p>
        </p:txBody>
      </p:sp>
      <p:sp>
        <p:nvSpPr>
          <p:cNvPr id="38" name="Text 15"/>
          <p:cNvSpPr/>
          <p:nvPr/>
        </p:nvSpPr>
        <p:spPr>
          <a:xfrm>
            <a:off x="8092232" y="3895725"/>
            <a:ext cx="15701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→ Line Fit</a:t>
            </a:r>
            <a:endParaRPr lang="en-US" sz="1200" dirty="0"/>
          </a:p>
        </p:txBody>
      </p:sp>
      <p:pic>
        <p:nvPicPr>
          <p:cNvPr id="3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58075" y="4305300"/>
            <a:ext cx="2857500" cy="1428750"/>
          </a:xfrm>
          <a:prstGeom prst="rect">
            <a:avLst/>
          </a:prstGeom>
        </p:spPr>
      </p:pic>
      <p:sp>
        <p:nvSpPr>
          <p:cNvPr id="40" name="Text 16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775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438400"/>
            <a:ext cx="5295900" cy="12001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2676525"/>
            <a:ext cx="552450" cy="5619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3476625"/>
            <a:ext cx="5867400" cy="19716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625" y="1743075"/>
            <a:ext cx="5295900" cy="411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6550" y="2400300"/>
            <a:ext cx="1238250" cy="4762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8350" y="2400300"/>
            <a:ext cx="1238250" cy="4762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7650" y="3314700"/>
            <a:ext cx="1847850" cy="4762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6550" y="4229100"/>
            <a:ext cx="1238250" cy="4762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8350" y="4229100"/>
            <a:ext cx="1238250" cy="4762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81950" y="4953000"/>
            <a:ext cx="1619250" cy="85725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762000" y="7620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Equation</a:t>
            </a:r>
            <a:endParaRPr lang="en-US" sz="3400" dirty="0"/>
          </a:p>
        </p:txBody>
      </p:sp>
      <p:pic>
        <p:nvPicPr>
          <p:cNvPr id="1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" y="2828925"/>
            <a:ext cx="247650" cy="257175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>
            <a:off x="1724025" y="2689622"/>
            <a:ext cx="407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 closed-form solution</a:t>
            </a:r>
            <a:endParaRPr lang="en-US" sz="1700" dirty="0"/>
          </a:p>
        </p:txBody>
      </p:sp>
      <p:sp>
        <p:nvSpPr>
          <p:cNvPr id="18" name="Text 2"/>
          <p:cNvSpPr/>
          <p:nvPr/>
        </p:nvSpPr>
        <p:spPr>
          <a:xfrm>
            <a:off x="1724025" y="3108722"/>
            <a:ext cx="40767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once, get optimal weights.</a:t>
            </a:r>
            <a:endParaRPr lang="en-US" sz="1200" dirty="0"/>
          </a:p>
        </p:txBody>
      </p:sp>
      <p:sp>
        <p:nvSpPr>
          <p:cNvPr id="19" name="Text 3"/>
          <p:cNvSpPr/>
          <p:nvPr/>
        </p:nvSpPr>
        <p:spPr>
          <a:xfrm>
            <a:off x="1009650" y="4025503"/>
            <a:ext cx="478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</a:t>
            </a:r>
            <a:endParaRPr lang="en-US" sz="1400" dirty="0"/>
          </a:p>
        </p:txBody>
      </p:sp>
      <p:sp>
        <p:nvSpPr>
          <p:cNvPr id="20" name="Text 4"/>
          <p:cNvSpPr/>
          <p:nvPr/>
        </p:nvSpPr>
        <p:spPr>
          <a:xfrm>
            <a:off x="1735931" y="4520803"/>
            <a:ext cx="2268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D7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2500" dirty="0"/>
          </a:p>
        </p:txBody>
      </p:sp>
      <p:sp>
        <p:nvSpPr>
          <p:cNvPr id="21" name="Text 5"/>
          <p:cNvSpPr/>
          <p:nvPr/>
        </p:nvSpPr>
        <p:spPr>
          <a:xfrm>
            <a:off x="2115145" y="4520803"/>
            <a:ext cx="2268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2500" dirty="0"/>
          </a:p>
        </p:txBody>
      </p:sp>
      <p:sp>
        <p:nvSpPr>
          <p:cNvPr id="22" name="Text 6"/>
          <p:cNvSpPr/>
          <p:nvPr/>
        </p:nvSpPr>
        <p:spPr>
          <a:xfrm>
            <a:off x="2494359" y="4520803"/>
            <a:ext cx="16424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</a:t>
            </a:r>
            <a:pPr indent="0" marL="0">
              <a:buNone/>
            </a:pPr>
            <a:r>
              <a:rPr lang="en-US" sz="19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25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X)</a:t>
            </a:r>
            <a:pPr indent="0" marL="0">
              <a:buNone/>
            </a:pPr>
            <a:r>
              <a:rPr lang="en-US" sz="19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2500" dirty="0"/>
          </a:p>
        </p:txBody>
      </p:sp>
      <p:sp>
        <p:nvSpPr>
          <p:cNvPr id="23" name="Text 7"/>
          <p:cNvSpPr/>
          <p:nvPr/>
        </p:nvSpPr>
        <p:spPr>
          <a:xfrm>
            <a:off x="4289227" y="4520803"/>
            <a:ext cx="39647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9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2500" dirty="0"/>
          </a:p>
        </p:txBody>
      </p:sp>
      <p:sp>
        <p:nvSpPr>
          <p:cNvPr id="24" name="Text 8"/>
          <p:cNvSpPr/>
          <p:nvPr/>
        </p:nvSpPr>
        <p:spPr>
          <a:xfrm>
            <a:off x="4838105" y="4520803"/>
            <a:ext cx="2268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2500" dirty="0"/>
          </a:p>
        </p:txBody>
      </p:sp>
      <p:sp>
        <p:nvSpPr>
          <p:cNvPr id="25" name="Text 9"/>
          <p:cNvSpPr/>
          <p:nvPr/>
        </p:nvSpPr>
        <p:spPr>
          <a:xfrm>
            <a:off x="7305675" y="1990725"/>
            <a:ext cx="297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Multiplication Flow</a:t>
            </a:r>
            <a:endParaRPr lang="en-US" sz="1400" dirty="0"/>
          </a:p>
        </p:txBody>
      </p:sp>
      <p:sp>
        <p:nvSpPr>
          <p:cNvPr id="26" name="Text 10"/>
          <p:cNvSpPr/>
          <p:nvPr/>
        </p:nvSpPr>
        <p:spPr>
          <a:xfrm>
            <a:off x="7205663" y="2505075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0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400" dirty="0"/>
          </a:p>
        </p:txBody>
      </p:sp>
      <p:pic>
        <p:nvPicPr>
          <p:cNvPr id="2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05850" y="2533650"/>
            <a:ext cx="171450" cy="209550"/>
          </a:xfrm>
          <a:prstGeom prst="rect">
            <a:avLst/>
          </a:prstGeom>
        </p:spPr>
      </p:pic>
      <p:sp>
        <p:nvSpPr>
          <p:cNvPr id="28" name="Text 11"/>
          <p:cNvSpPr/>
          <p:nvPr/>
        </p:nvSpPr>
        <p:spPr>
          <a:xfrm>
            <a:off x="10220325" y="2505075"/>
            <a:ext cx="114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400" dirty="0"/>
          </a:p>
        </p:txBody>
      </p:sp>
      <p:pic>
        <p:nvPicPr>
          <p:cNvPr id="2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96325" y="2971800"/>
            <a:ext cx="190500" cy="247650"/>
          </a:xfrm>
          <a:prstGeom prst="rect">
            <a:avLst/>
          </a:prstGeom>
        </p:spPr>
      </p:pic>
      <p:sp>
        <p:nvSpPr>
          <p:cNvPr id="30" name="Text 12"/>
          <p:cNvSpPr/>
          <p:nvPr/>
        </p:nvSpPr>
        <p:spPr>
          <a:xfrm>
            <a:off x="8077200" y="3419475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Inverse ( )</a:t>
            </a:r>
            <a:pPr indent="0" marL="0">
              <a:buNone/>
            </a:pPr>
            <a:r>
              <a:rPr lang="en-US" sz="10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400" dirty="0"/>
          </a:p>
        </p:txBody>
      </p:sp>
      <p:pic>
        <p:nvPicPr>
          <p:cNvPr id="3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96325" y="3886200"/>
            <a:ext cx="190500" cy="247650"/>
          </a:xfrm>
          <a:prstGeom prst="rect">
            <a:avLst/>
          </a:prstGeom>
        </p:spPr>
      </p:pic>
      <p:sp>
        <p:nvSpPr>
          <p:cNvPr id="32" name="Text 13"/>
          <p:cNvSpPr/>
          <p:nvPr/>
        </p:nvSpPr>
        <p:spPr>
          <a:xfrm>
            <a:off x="7205663" y="4333875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0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400" dirty="0"/>
          </a:p>
        </p:txBody>
      </p:sp>
      <p:pic>
        <p:nvPicPr>
          <p:cNvPr id="3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05850" y="4362450"/>
            <a:ext cx="171450" cy="209550"/>
          </a:xfrm>
          <a:prstGeom prst="rect">
            <a:avLst/>
          </a:prstGeom>
        </p:spPr>
      </p:pic>
      <p:sp>
        <p:nvSpPr>
          <p:cNvPr id="34" name="Text 14"/>
          <p:cNvSpPr/>
          <p:nvPr/>
        </p:nvSpPr>
        <p:spPr>
          <a:xfrm>
            <a:off x="10220325" y="4333875"/>
            <a:ext cx="114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400" dirty="0"/>
          </a:p>
        </p:txBody>
      </p:sp>
      <p:pic>
        <p:nvPicPr>
          <p:cNvPr id="3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96325" y="4800600"/>
            <a:ext cx="190500" cy="247650"/>
          </a:xfrm>
          <a:prstGeom prst="rect">
            <a:avLst/>
          </a:prstGeom>
        </p:spPr>
      </p:pic>
      <p:sp>
        <p:nvSpPr>
          <p:cNvPr id="36" name="Text 15"/>
          <p:cNvSpPr/>
          <p:nvPr/>
        </p:nvSpPr>
        <p:spPr>
          <a:xfrm>
            <a:off x="8724900" y="5229225"/>
            <a:ext cx="133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700" dirty="0"/>
          </a:p>
        </p:txBody>
      </p:sp>
      <p:sp>
        <p:nvSpPr>
          <p:cNvPr id="37" name="Text 16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375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1123950"/>
            <a:ext cx="5810250" cy="18573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857500"/>
            <a:ext cx="5238750" cy="1447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3095625"/>
            <a:ext cx="476250" cy="4857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467225"/>
            <a:ext cx="5238750" cy="17240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4705350"/>
            <a:ext cx="476250" cy="4857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0775" y="1885950"/>
            <a:ext cx="5238750" cy="3829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4486275"/>
            <a:ext cx="4762500" cy="990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5105400"/>
            <a:ext cx="1447800" cy="1047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1775" y="5086350"/>
            <a:ext cx="133350" cy="14287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24650" y="5086350"/>
            <a:ext cx="133350" cy="1428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67525" y="5086350"/>
            <a:ext cx="133350" cy="14287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96250" y="5105400"/>
            <a:ext cx="1447800" cy="10477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0" y="5086350"/>
            <a:ext cx="133350" cy="14287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53500" y="5086350"/>
            <a:ext cx="133350" cy="14287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82125" y="5086350"/>
            <a:ext cx="133350" cy="14287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53600" y="5105400"/>
            <a:ext cx="1447800" cy="104775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39350" y="5086350"/>
            <a:ext cx="133350" cy="142875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25175" y="5086350"/>
            <a:ext cx="133350" cy="142875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762000" y="762000"/>
            <a:ext cx="392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</a:t>
            </a:r>
            <a:endParaRPr lang="en-US" sz="3400" dirty="0"/>
          </a:p>
        </p:txBody>
      </p:sp>
      <p:sp>
        <p:nvSpPr>
          <p:cNvPr id="24" name="Text 1"/>
          <p:cNvSpPr/>
          <p:nvPr/>
        </p:nvSpPr>
        <p:spPr>
          <a:xfrm>
            <a:off x="1009650" y="1675209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</a:t>
            </a:r>
            <a:endParaRPr lang="en-US" sz="1400" dirty="0"/>
          </a:p>
        </p:txBody>
      </p:sp>
      <p:sp>
        <p:nvSpPr>
          <p:cNvPr id="25" name="Text 2"/>
          <p:cNvSpPr/>
          <p:nvPr/>
        </p:nvSpPr>
        <p:spPr>
          <a:xfrm>
            <a:off x="1599902" y="2094309"/>
            <a:ext cx="1857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7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2100" dirty="0"/>
          </a:p>
        </p:txBody>
      </p:sp>
      <p:sp>
        <p:nvSpPr>
          <p:cNvPr id="26" name="Text 3"/>
          <p:cNvSpPr/>
          <p:nvPr/>
        </p:nvSpPr>
        <p:spPr>
          <a:xfrm>
            <a:off x="1899940" y="2094309"/>
            <a:ext cx="1857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2100" dirty="0"/>
          </a:p>
        </p:txBody>
      </p:sp>
      <p:sp>
        <p:nvSpPr>
          <p:cNvPr id="27" name="Text 4"/>
          <p:cNvSpPr/>
          <p:nvPr/>
        </p:nvSpPr>
        <p:spPr>
          <a:xfrm>
            <a:off x="2199977" y="2094309"/>
            <a:ext cx="1857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7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2100" dirty="0"/>
          </a:p>
        </p:txBody>
      </p:sp>
      <p:sp>
        <p:nvSpPr>
          <p:cNvPr id="28" name="Text 5"/>
          <p:cNvSpPr/>
          <p:nvPr/>
        </p:nvSpPr>
        <p:spPr>
          <a:xfrm>
            <a:off x="2500015" y="2094309"/>
            <a:ext cx="1857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2100" dirty="0"/>
          </a:p>
        </p:txBody>
      </p:sp>
      <p:sp>
        <p:nvSpPr>
          <p:cNvPr id="29" name="Text 6"/>
          <p:cNvSpPr/>
          <p:nvPr/>
        </p:nvSpPr>
        <p:spPr>
          <a:xfrm>
            <a:off x="2800052" y="2094309"/>
            <a:ext cx="1863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endParaRPr lang="en-US" sz="2100" dirty="0"/>
          </a:p>
        </p:txBody>
      </p:sp>
      <p:sp>
        <p:nvSpPr>
          <p:cNvPr id="30" name="Text 7"/>
          <p:cNvSpPr/>
          <p:nvPr/>
        </p:nvSpPr>
        <p:spPr>
          <a:xfrm>
            <a:off x="3062585" y="2094309"/>
            <a:ext cx="1857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2100" dirty="0"/>
          </a:p>
        </p:txBody>
      </p:sp>
      <p:sp>
        <p:nvSpPr>
          <p:cNvPr id="31" name="Text 8"/>
          <p:cNvSpPr/>
          <p:nvPr/>
        </p:nvSpPr>
        <p:spPr>
          <a:xfrm>
            <a:off x="3324523" y="2094309"/>
            <a:ext cx="1819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6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2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(Xw - y)</a:t>
            </a:r>
            <a:endParaRPr lang="en-US" sz="2100" dirty="0"/>
          </a:p>
        </p:txBody>
      </p:sp>
      <p:pic>
        <p:nvPicPr>
          <p:cNvPr id="3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4900" y="3209925"/>
            <a:ext cx="247650" cy="257175"/>
          </a:xfrm>
          <a:prstGeom prst="rect">
            <a:avLst/>
          </a:prstGeom>
        </p:spPr>
      </p:pic>
      <p:sp>
        <p:nvSpPr>
          <p:cNvPr id="33" name="Text 9"/>
          <p:cNvSpPr/>
          <p:nvPr/>
        </p:nvSpPr>
        <p:spPr>
          <a:xfrm>
            <a:off x="1647825" y="3113484"/>
            <a:ext cx="409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Iterative Optimization</a:t>
            </a:r>
            <a:endParaRPr lang="en-US" sz="1700" dirty="0"/>
          </a:p>
        </p:txBody>
      </p:sp>
      <p:sp>
        <p:nvSpPr>
          <p:cNvPr id="34" name="Text 10"/>
          <p:cNvSpPr/>
          <p:nvPr/>
        </p:nvSpPr>
        <p:spPr>
          <a:xfrm>
            <a:off x="1647825" y="3494484"/>
            <a:ext cx="40957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Gradually updates weights step-by-step to find the minimum error.</a:t>
            </a:r>
            <a:endParaRPr lang="en-US" sz="1200" dirty="0"/>
          </a:p>
        </p:txBody>
      </p:sp>
      <p:pic>
        <p:nvPicPr>
          <p:cNvPr id="3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04900" y="4819650"/>
            <a:ext cx="247650" cy="257175"/>
          </a:xfrm>
          <a:prstGeom prst="rect">
            <a:avLst/>
          </a:prstGeom>
        </p:spPr>
      </p:pic>
      <p:sp>
        <p:nvSpPr>
          <p:cNvPr id="36" name="Text 11"/>
          <p:cNvSpPr/>
          <p:nvPr/>
        </p:nvSpPr>
        <p:spPr>
          <a:xfrm>
            <a:off x="1647825" y="4718447"/>
            <a:ext cx="409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Parameters</a:t>
            </a:r>
            <a:endParaRPr lang="en-US" sz="1700" dirty="0"/>
          </a:p>
        </p:txBody>
      </p:sp>
      <p:sp>
        <p:nvSpPr>
          <p:cNvPr id="37" name="Text 12"/>
          <p:cNvSpPr/>
          <p:nvPr/>
        </p:nvSpPr>
        <p:spPr>
          <a:xfrm>
            <a:off x="1647825" y="5099447"/>
            <a:ext cx="40957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 tuning the </a:t>
            </a:r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rate (α)</a:t>
            </a:r>
            <a:pPr indent="0" marL="0">
              <a:buNone/>
            </a:pPr>
            <a:r>
              <a:rPr lang="en-US" sz="12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setting the number of iterations for convergence.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7677150" y="2138363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Step-by-Step Descent</a:t>
            </a:r>
            <a:endParaRPr lang="en-US" sz="1400" dirty="0"/>
          </a:p>
        </p:txBody>
      </p:sp>
      <p:pic>
        <p:nvPicPr>
          <p:cNvPr id="3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96125" y="2543175"/>
            <a:ext cx="3448050" cy="1743075"/>
          </a:xfrm>
          <a:prstGeom prst="rect">
            <a:avLst/>
          </a:prstGeom>
        </p:spPr>
      </p:pic>
      <p:sp>
        <p:nvSpPr>
          <p:cNvPr id="40" name="Text 14"/>
          <p:cNvSpPr/>
          <p:nvPr/>
        </p:nvSpPr>
        <p:spPr>
          <a:xfrm>
            <a:off x="6448425" y="4700588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Rate (α) Impact</a:t>
            </a:r>
            <a:endParaRPr lang="en-US" sz="1200" dirty="0"/>
          </a:p>
        </p:txBody>
      </p:sp>
      <p:sp>
        <p:nvSpPr>
          <p:cNvPr id="41" name="Text 15"/>
          <p:cNvSpPr/>
          <p:nvPr/>
        </p:nvSpPr>
        <p:spPr>
          <a:xfrm>
            <a:off x="6819900" y="5272088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 Small</a:t>
            </a:r>
            <a:endParaRPr lang="en-US" sz="900" dirty="0"/>
          </a:p>
        </p:txBody>
      </p:sp>
      <p:sp>
        <p:nvSpPr>
          <p:cNvPr id="42" name="Text 16"/>
          <p:cNvSpPr/>
          <p:nvPr/>
        </p:nvSpPr>
        <p:spPr>
          <a:xfrm>
            <a:off x="8553450" y="5272088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Optimal</a:t>
            </a:r>
            <a:endParaRPr lang="en-US" sz="900" dirty="0"/>
          </a:p>
        </p:txBody>
      </p:sp>
      <p:pic>
        <p:nvPicPr>
          <p:cNvPr id="4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53600" y="4991100"/>
            <a:ext cx="1447800" cy="333375"/>
          </a:xfrm>
          <a:prstGeom prst="rect">
            <a:avLst/>
          </a:prstGeom>
        </p:spPr>
      </p:pic>
      <p:sp>
        <p:nvSpPr>
          <p:cNvPr id="44" name="Text 17"/>
          <p:cNvSpPr/>
          <p:nvPr/>
        </p:nvSpPr>
        <p:spPr>
          <a:xfrm>
            <a:off x="10134600" y="5272088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 Large</a:t>
            </a:r>
            <a:endParaRPr lang="en-US" sz="900" dirty="0"/>
          </a:p>
        </p:txBody>
      </p:sp>
      <p:sp>
        <p:nvSpPr>
          <p:cNvPr id="45" name="Text 18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524000"/>
            <a:ext cx="5238750" cy="1600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685925"/>
            <a:ext cx="400050" cy="4095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2933700"/>
            <a:ext cx="5810250" cy="17335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476750"/>
            <a:ext cx="5238750" cy="1600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638675"/>
            <a:ext cx="400050" cy="400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0775" y="1933575"/>
            <a:ext cx="5238750" cy="3733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2552700"/>
            <a:ext cx="4838700" cy="14573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2175" y="3343275"/>
            <a:ext cx="1295400" cy="54292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67900" y="3486150"/>
            <a:ext cx="180975" cy="6667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67900" y="3676650"/>
            <a:ext cx="180975" cy="666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4171950"/>
            <a:ext cx="4838700" cy="1295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4676775"/>
            <a:ext cx="4533900" cy="10477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4676775"/>
            <a:ext cx="2276475" cy="10477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10625" y="4676775"/>
            <a:ext cx="2276475" cy="10477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4638675"/>
            <a:ext cx="171450" cy="18097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20125" y="4524375"/>
            <a:ext cx="400050" cy="409575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91850" y="4638675"/>
            <a:ext cx="171450" cy="180975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762000" y="762000"/>
            <a:ext cx="3905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</a:t>
            </a:r>
            <a:endParaRPr lang="en-US" sz="3400" dirty="0"/>
          </a:p>
        </p:txBody>
      </p:sp>
      <p:pic>
        <p:nvPicPr>
          <p:cNvPr id="2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0600" y="1762125"/>
            <a:ext cx="247650" cy="257175"/>
          </a:xfrm>
          <a:prstGeom prst="rect">
            <a:avLst/>
          </a:prstGeom>
        </p:spPr>
      </p:pic>
      <p:sp>
        <p:nvSpPr>
          <p:cNvPr id="24" name="Text 1"/>
          <p:cNvSpPr/>
          <p:nvPr/>
        </p:nvSpPr>
        <p:spPr>
          <a:xfrm>
            <a:off x="1495425" y="1697831"/>
            <a:ext cx="4324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L2-Regularized Solution</a:t>
            </a:r>
            <a:endParaRPr lang="en-US" sz="1700" dirty="0"/>
          </a:p>
        </p:txBody>
      </p:sp>
      <p:sp>
        <p:nvSpPr>
          <p:cNvPr id="25" name="Text 2"/>
          <p:cNvSpPr/>
          <p:nvPr/>
        </p:nvSpPr>
        <p:spPr>
          <a:xfrm>
            <a:off x="1495425" y="2116931"/>
            <a:ext cx="43243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 a penalty term to the loss function to constrain weight magnitudes and improve model stability.</a:t>
            </a:r>
            <a:endParaRPr lang="en-US" sz="1200" dirty="0"/>
          </a:p>
        </p:txBody>
      </p:sp>
      <p:sp>
        <p:nvSpPr>
          <p:cNvPr id="26" name="Text 3"/>
          <p:cNvSpPr/>
          <p:nvPr/>
        </p:nvSpPr>
        <p:spPr>
          <a:xfrm>
            <a:off x="971550" y="3438525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</a:t>
            </a:r>
            <a:endParaRPr lang="en-US" sz="1400" dirty="0"/>
          </a:p>
        </p:txBody>
      </p:sp>
      <p:sp>
        <p:nvSpPr>
          <p:cNvPr id="27" name="Text 4"/>
          <p:cNvSpPr/>
          <p:nvPr/>
        </p:nvSpPr>
        <p:spPr>
          <a:xfrm>
            <a:off x="1547515" y="3819525"/>
            <a:ext cx="1857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7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2100" dirty="0"/>
          </a:p>
        </p:txBody>
      </p:sp>
      <p:sp>
        <p:nvSpPr>
          <p:cNvPr id="28" name="Text 5"/>
          <p:cNvSpPr/>
          <p:nvPr/>
        </p:nvSpPr>
        <p:spPr>
          <a:xfrm>
            <a:off x="1847552" y="3819525"/>
            <a:ext cx="1857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2100" dirty="0"/>
          </a:p>
        </p:txBody>
      </p:sp>
      <p:sp>
        <p:nvSpPr>
          <p:cNvPr id="29" name="Text 6"/>
          <p:cNvSpPr/>
          <p:nvPr/>
        </p:nvSpPr>
        <p:spPr>
          <a:xfrm>
            <a:off x="2147590" y="3819525"/>
            <a:ext cx="23008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</a:t>
            </a:r>
            <a:pPr indent="0" marL="0">
              <a:buNone/>
            </a:pPr>
            <a:r>
              <a:rPr lang="en-US" sz="16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2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+ </a:t>
            </a:r>
            <a:pPr indent="0" marL="0">
              <a:buNone/>
            </a:pPr>
            <a:r>
              <a:rPr lang="en-US" sz="21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λI</a:t>
            </a:r>
            <a:pPr indent="0" marL="0">
              <a:buNone/>
            </a:pPr>
            <a:r>
              <a:rPr lang="en-US" sz="2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6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2100" dirty="0"/>
          </a:p>
        </p:txBody>
      </p:sp>
      <p:sp>
        <p:nvSpPr>
          <p:cNvPr id="30" name="Text 7"/>
          <p:cNvSpPr/>
          <p:nvPr/>
        </p:nvSpPr>
        <p:spPr>
          <a:xfrm>
            <a:off x="4562773" y="3819525"/>
            <a:ext cx="333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6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2100" dirty="0"/>
          </a:p>
        </p:txBody>
      </p:sp>
      <p:sp>
        <p:nvSpPr>
          <p:cNvPr id="31" name="Text 8"/>
          <p:cNvSpPr/>
          <p:nvPr/>
        </p:nvSpPr>
        <p:spPr>
          <a:xfrm>
            <a:off x="5010448" y="3819525"/>
            <a:ext cx="1857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2100" dirty="0"/>
          </a:p>
        </p:txBody>
      </p:sp>
      <p:pic>
        <p:nvPicPr>
          <p:cNvPr id="3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2025" y="4714875"/>
            <a:ext cx="304800" cy="247650"/>
          </a:xfrm>
          <a:prstGeom prst="rect">
            <a:avLst/>
          </a:prstGeom>
        </p:spPr>
      </p:pic>
      <p:sp>
        <p:nvSpPr>
          <p:cNvPr id="33" name="Text 9"/>
          <p:cNvSpPr/>
          <p:nvPr/>
        </p:nvSpPr>
        <p:spPr>
          <a:xfrm>
            <a:off x="1495425" y="4648200"/>
            <a:ext cx="4324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Prevents Overfitting</a:t>
            </a:r>
            <a:endParaRPr lang="en-US" sz="1700" dirty="0"/>
          </a:p>
        </p:txBody>
      </p:sp>
      <p:sp>
        <p:nvSpPr>
          <p:cNvPr id="34" name="Text 10"/>
          <p:cNvSpPr/>
          <p:nvPr/>
        </p:nvSpPr>
        <p:spPr>
          <a:xfrm>
            <a:off x="1495425" y="5067300"/>
            <a:ext cx="43243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regularization parameter </a:t>
            </a:r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</a:t>
            </a:r>
            <a:pPr indent="0" marL="0">
              <a:buNone/>
            </a:pPr>
            <a:r>
              <a:rPr lang="en-US" sz="12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controls the trade-off between fitting training data and keeping weights small.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7620000" y="2147888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Regularization Effect</a:t>
            </a:r>
            <a:endParaRPr lang="en-US" sz="1400" dirty="0"/>
          </a:p>
        </p:txBody>
      </p:sp>
      <p:pic>
        <p:nvPicPr>
          <p:cNvPr id="3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096125" y="2505075"/>
            <a:ext cx="3448050" cy="1552575"/>
          </a:xfrm>
          <a:prstGeom prst="rect">
            <a:avLst/>
          </a:prstGeom>
        </p:spPr>
      </p:pic>
      <p:sp>
        <p:nvSpPr>
          <p:cNvPr id="37" name="Text 12"/>
          <p:cNvSpPr/>
          <p:nvPr/>
        </p:nvSpPr>
        <p:spPr>
          <a:xfrm>
            <a:off x="10113318" y="3443288"/>
            <a:ext cx="8690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Overfit (λ=0)</a:t>
            </a:r>
            <a:endParaRPr lang="en-US" sz="800" dirty="0"/>
          </a:p>
        </p:txBody>
      </p:sp>
      <p:sp>
        <p:nvSpPr>
          <p:cNvPr id="38" name="Text 13"/>
          <p:cNvSpPr/>
          <p:nvPr/>
        </p:nvSpPr>
        <p:spPr>
          <a:xfrm>
            <a:off x="10113318" y="3633788"/>
            <a:ext cx="733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Regularized</a:t>
            </a:r>
            <a:endParaRPr lang="en-US" sz="800" dirty="0"/>
          </a:p>
        </p:txBody>
      </p:sp>
      <p:sp>
        <p:nvSpPr>
          <p:cNvPr id="39" name="Text 14"/>
          <p:cNvSpPr/>
          <p:nvPr/>
        </p:nvSpPr>
        <p:spPr>
          <a:xfrm>
            <a:off x="6410325" y="4310063"/>
            <a:ext cx="481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Tuning Impact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6562725" y="4919663"/>
            <a:ext cx="3891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→ 0</a:t>
            </a:r>
            <a:endParaRPr lang="en-US" sz="900" dirty="0"/>
          </a:p>
        </p:txBody>
      </p:sp>
      <p:sp>
        <p:nvSpPr>
          <p:cNvPr id="41" name="Text 16"/>
          <p:cNvSpPr/>
          <p:nvPr/>
        </p:nvSpPr>
        <p:spPr>
          <a:xfrm>
            <a:off x="6562725" y="5148263"/>
            <a:ext cx="809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</a:t>
            </a:r>
            <a:pPr indent="0" marL="0">
              <a:buNone/>
            </a:pPr>
            <a:r>
              <a:rPr lang="en-US" sz="800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(High Variance)</a:t>
            </a:r>
            <a:endParaRPr lang="en-US" sz="800" dirty="0"/>
          </a:p>
        </p:txBody>
      </p:sp>
      <p:sp>
        <p:nvSpPr>
          <p:cNvPr id="42" name="Text 17"/>
          <p:cNvSpPr/>
          <p:nvPr/>
        </p:nvSpPr>
        <p:spPr>
          <a:xfrm>
            <a:off x="8475166" y="4919663"/>
            <a:ext cx="6899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Optimal λ</a:t>
            </a:r>
            <a:endParaRPr lang="en-US" sz="900" dirty="0"/>
          </a:p>
        </p:txBody>
      </p:sp>
      <p:sp>
        <p:nvSpPr>
          <p:cNvPr id="43" name="Text 18"/>
          <p:cNvSpPr/>
          <p:nvPr/>
        </p:nvSpPr>
        <p:spPr>
          <a:xfrm>
            <a:off x="8567738" y="5148263"/>
            <a:ext cx="504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</a:t>
            </a:r>
            <a:pPr algn="ctr" indent="0" marL="0">
              <a:buNone/>
            </a:pPr>
            <a:r>
              <a:rPr lang="en-US" sz="800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ctr" indent="0" marL="0">
              <a:buNone/>
            </a:pPr>
            <a:r>
              <a:rPr lang="en-US" sz="800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00" dirty="0"/>
          </a:p>
        </p:txBody>
      </p:sp>
      <p:sp>
        <p:nvSpPr>
          <p:cNvPr id="44" name="Text 19"/>
          <p:cNvSpPr/>
          <p:nvPr/>
        </p:nvSpPr>
        <p:spPr>
          <a:xfrm>
            <a:off x="10684222" y="4919663"/>
            <a:ext cx="3933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D7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→ ∞</a:t>
            </a:r>
            <a:endParaRPr lang="en-US" sz="900" dirty="0"/>
          </a:p>
        </p:txBody>
      </p:sp>
      <p:sp>
        <p:nvSpPr>
          <p:cNvPr id="45" name="Text 20"/>
          <p:cNvSpPr/>
          <p:nvPr/>
        </p:nvSpPr>
        <p:spPr>
          <a:xfrm>
            <a:off x="10439400" y="5148263"/>
            <a:ext cx="638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Underfitting</a:t>
            </a:r>
            <a:pPr algn="r" indent="0" marL="0">
              <a:buNone/>
            </a:pPr>
            <a:r>
              <a:rPr lang="en-US" sz="800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r" indent="0" marL="0">
              <a:buNone/>
            </a:pPr>
            <a:r>
              <a:rPr lang="en-US" sz="800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(High Bias)</a:t>
            </a:r>
            <a:endParaRPr lang="en-US" sz="800" dirty="0"/>
          </a:p>
        </p:txBody>
      </p:sp>
      <p:sp>
        <p:nvSpPr>
          <p:cNvPr id="46" name="Text 21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1047750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295525"/>
            <a:ext cx="4105275" cy="800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45745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228975"/>
            <a:ext cx="4105275" cy="800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39090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4162425"/>
            <a:ext cx="4105275" cy="8001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324350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5095875"/>
            <a:ext cx="4105275" cy="8001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52578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86375" y="3714750"/>
            <a:ext cx="6153150" cy="14478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762000" y="762000"/>
            <a:ext cx="547687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the Solution</a:t>
            </a:r>
            <a:endParaRPr lang="en-US" sz="3100" dirty="0"/>
          </a:p>
        </p:txBody>
      </p:sp>
      <p:sp>
        <p:nvSpPr>
          <p:cNvPr id="15" name="Text 1"/>
          <p:cNvSpPr/>
          <p:nvPr/>
        </p:nvSpPr>
        <p:spPr>
          <a:xfrm>
            <a:off x="762000" y="1695450"/>
            <a:ext cx="40842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700" dirty="0"/>
          </a:p>
        </p:txBody>
      </p:sp>
      <p:pic>
        <p:nvPicPr>
          <p:cNvPr id="1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6800" y="2590800"/>
            <a:ext cx="171450" cy="20955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1533525" y="2466975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400" dirty="0"/>
          </a:p>
        </p:txBody>
      </p:sp>
      <p:sp>
        <p:nvSpPr>
          <p:cNvPr id="18" name="Text 3"/>
          <p:cNvSpPr/>
          <p:nvPr/>
        </p:nvSpPr>
        <p:spPr>
          <a:xfrm>
            <a:off x="1533525" y="2733675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(core math)</a:t>
            </a:r>
            <a:endParaRPr lang="en-US" sz="900" dirty="0"/>
          </a:p>
        </p:txBody>
      </p:sp>
      <p:pic>
        <p:nvPicPr>
          <p:cNvPr id="1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7750" y="3524250"/>
            <a:ext cx="209550" cy="209550"/>
          </a:xfrm>
          <a:prstGeom prst="rect">
            <a:avLst/>
          </a:prstGeom>
        </p:spPr>
      </p:pic>
      <p:sp>
        <p:nvSpPr>
          <p:cNvPr id="20" name="Text 4"/>
          <p:cNvSpPr/>
          <p:nvPr/>
        </p:nvSpPr>
        <p:spPr>
          <a:xfrm>
            <a:off x="1533525" y="340042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400" dirty="0"/>
          </a:p>
        </p:txBody>
      </p:sp>
      <p:sp>
        <p:nvSpPr>
          <p:cNvPr id="21" name="Text 5"/>
          <p:cNvSpPr/>
          <p:nvPr/>
        </p:nvSpPr>
        <p:spPr>
          <a:xfrm>
            <a:off x="1533525" y="3667125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(data handling)</a:t>
            </a:r>
            <a:endParaRPr lang="en-US" sz="900" dirty="0"/>
          </a:p>
        </p:txBody>
      </p:sp>
      <p:pic>
        <p:nvPicPr>
          <p:cNvPr id="2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7750" y="4457700"/>
            <a:ext cx="209550" cy="209550"/>
          </a:xfrm>
          <a:prstGeom prst="rect">
            <a:avLst/>
          </a:prstGeom>
        </p:spPr>
      </p:pic>
      <p:sp>
        <p:nvSpPr>
          <p:cNvPr id="23" name="Text 6"/>
          <p:cNvSpPr/>
          <p:nvPr/>
        </p:nvSpPr>
        <p:spPr>
          <a:xfrm>
            <a:off x="1533525" y="433387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24" name="Text 7"/>
          <p:cNvSpPr/>
          <p:nvPr/>
        </p:nvSpPr>
        <p:spPr>
          <a:xfrm>
            <a:off x="1533525" y="4600575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(plots)</a:t>
            </a:r>
            <a:endParaRPr lang="en-US" sz="900" dirty="0"/>
          </a:p>
        </p:txBody>
      </p:sp>
      <p:pic>
        <p:nvPicPr>
          <p:cNvPr id="2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7750" y="5391150"/>
            <a:ext cx="209550" cy="209550"/>
          </a:xfrm>
          <a:prstGeom prst="rect">
            <a:avLst/>
          </a:prstGeom>
        </p:spPr>
      </p:pic>
      <p:sp>
        <p:nvSpPr>
          <p:cNvPr id="26" name="Text 8"/>
          <p:cNvSpPr/>
          <p:nvPr/>
        </p:nvSpPr>
        <p:spPr>
          <a:xfrm>
            <a:off x="1533525" y="5267325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sklearn</a:t>
            </a:r>
            <a:endParaRPr lang="en-US" sz="1400" dirty="0"/>
          </a:p>
        </p:txBody>
      </p:sp>
      <p:sp>
        <p:nvSpPr>
          <p:cNvPr id="27" name="Text 9"/>
          <p:cNvSpPr/>
          <p:nvPr/>
        </p:nvSpPr>
        <p:spPr>
          <a:xfrm>
            <a:off x="1533525" y="5534025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(validation only)</a:t>
            </a:r>
            <a:endParaRPr lang="en-US" sz="900" dirty="0"/>
          </a:p>
        </p:txBody>
      </p:sp>
      <p:sp>
        <p:nvSpPr>
          <p:cNvPr id="28" name="Text 10"/>
          <p:cNvSpPr/>
          <p:nvPr/>
        </p:nvSpPr>
        <p:spPr>
          <a:xfrm>
            <a:off x="5303490" y="1695450"/>
            <a:ext cx="61265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decisions</a:t>
            </a:r>
            <a:endParaRPr lang="en-US" sz="1700" dirty="0"/>
          </a:p>
        </p:txBody>
      </p:sp>
      <p:pic>
        <p:nvPicPr>
          <p:cNvPr id="2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86375" y="2181225"/>
            <a:ext cx="180975" cy="171450"/>
          </a:xfrm>
          <a:prstGeom prst="rect">
            <a:avLst/>
          </a:prstGeom>
        </p:spPr>
      </p:pic>
      <p:sp>
        <p:nvSpPr>
          <p:cNvPr id="30" name="Text 11"/>
          <p:cNvSpPr/>
          <p:nvPr/>
        </p:nvSpPr>
        <p:spPr>
          <a:xfrm>
            <a:off x="5570190" y="2152650"/>
            <a:ext cx="46196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Prefer </a:t>
            </a:r>
            <a:pPr indent="0" marL="0">
              <a:buNone/>
            </a:pPr>
            <a:r>
              <a:rPr lang="en-US" sz="1400" dirty="0">
                <a:solidFill>
                  <a:srgbClr val="D4AF37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np.linalg.solve()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over explicit inverse</a:t>
            </a:r>
            <a:endParaRPr lang="en-US" sz="1400" dirty="0"/>
          </a:p>
        </p:txBody>
      </p:sp>
      <p:pic>
        <p:nvPicPr>
          <p:cNvPr id="3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86375" y="2609850"/>
            <a:ext cx="180975" cy="171450"/>
          </a:xfrm>
          <a:prstGeom prst="rect">
            <a:avLst/>
          </a:prstGeom>
        </p:spPr>
      </p:pic>
      <p:sp>
        <p:nvSpPr>
          <p:cNvPr id="32" name="Text 12"/>
          <p:cNvSpPr/>
          <p:nvPr/>
        </p:nvSpPr>
        <p:spPr>
          <a:xfrm>
            <a:off x="5570190" y="2581275"/>
            <a:ext cx="3638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Normalize features for gradient descent</a:t>
            </a:r>
            <a:endParaRPr lang="en-US" sz="1400" dirty="0"/>
          </a:p>
        </p:txBody>
      </p:sp>
      <p:pic>
        <p:nvPicPr>
          <p:cNvPr id="3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86375" y="3028950"/>
            <a:ext cx="180975" cy="171450"/>
          </a:xfrm>
          <a:prstGeom prst="rect">
            <a:avLst/>
          </a:prstGeom>
        </p:spPr>
      </p:pic>
      <p:sp>
        <p:nvSpPr>
          <p:cNvPr id="34" name="Text 13"/>
          <p:cNvSpPr/>
          <p:nvPr/>
        </p:nvSpPr>
        <p:spPr>
          <a:xfrm>
            <a:off x="5570190" y="3000375"/>
            <a:ext cx="399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Exclude bias term from Ridge regularization</a:t>
            </a:r>
            <a:endParaRPr lang="en-US" sz="1400" dirty="0"/>
          </a:p>
        </p:txBody>
      </p:sp>
      <p:pic>
        <p:nvPicPr>
          <p:cNvPr id="3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24500" y="4029075"/>
            <a:ext cx="561975" cy="552450"/>
          </a:xfrm>
          <a:prstGeom prst="rect">
            <a:avLst/>
          </a:prstGeom>
        </p:spPr>
      </p:pic>
      <p:sp>
        <p:nvSpPr>
          <p:cNvPr id="36" name="Text 14"/>
          <p:cNvSpPr/>
          <p:nvPr/>
        </p:nvSpPr>
        <p:spPr>
          <a:xfrm>
            <a:off x="5541615" y="4038600"/>
            <a:ext cx="53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2D7D5E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15"/>
          <p:cNvSpPr/>
          <p:nvPr/>
        </p:nvSpPr>
        <p:spPr>
          <a:xfrm>
            <a:off x="5660678" y="4648200"/>
            <a:ext cx="29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900" dirty="0"/>
          </a:p>
        </p:txBody>
      </p:sp>
      <p:pic>
        <p:nvPicPr>
          <p:cNvPr id="3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4352925"/>
            <a:ext cx="161925" cy="171450"/>
          </a:xfrm>
          <a:prstGeom prst="rect">
            <a:avLst/>
          </a:prstGeom>
        </p:spPr>
      </p:pic>
      <p:pic>
        <p:nvPicPr>
          <p:cNvPr id="3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19900" y="4029075"/>
            <a:ext cx="561975" cy="552450"/>
          </a:xfrm>
          <a:prstGeom prst="rect">
            <a:avLst/>
          </a:prstGeom>
        </p:spPr>
      </p:pic>
      <p:sp>
        <p:nvSpPr>
          <p:cNvPr id="40" name="Text 16"/>
          <p:cNvSpPr/>
          <p:nvPr/>
        </p:nvSpPr>
        <p:spPr>
          <a:xfrm>
            <a:off x="6837462" y="4038600"/>
            <a:ext cx="53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2D7D5E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Text 17"/>
          <p:cNvSpPr/>
          <p:nvPr/>
        </p:nvSpPr>
        <p:spPr>
          <a:xfrm>
            <a:off x="6742212" y="4648200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Preprocess</a:t>
            </a:r>
            <a:endParaRPr lang="en-US" sz="900" dirty="0"/>
          </a:p>
        </p:txBody>
      </p:sp>
      <p:pic>
        <p:nvPicPr>
          <p:cNvPr id="4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715250" y="4352925"/>
            <a:ext cx="161925" cy="171450"/>
          </a:xfrm>
          <a:prstGeom prst="rect">
            <a:avLst/>
          </a:prstGeom>
        </p:spPr>
      </p:pic>
      <p:pic>
        <p:nvPicPr>
          <p:cNvPr id="4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72450" y="3952875"/>
            <a:ext cx="561975" cy="552450"/>
          </a:xfrm>
          <a:prstGeom prst="rect">
            <a:avLst/>
          </a:prstGeom>
        </p:spPr>
      </p:pic>
      <p:sp>
        <p:nvSpPr>
          <p:cNvPr id="44" name="Text 18"/>
          <p:cNvSpPr/>
          <p:nvPr/>
        </p:nvSpPr>
        <p:spPr>
          <a:xfrm>
            <a:off x="8190607" y="3962400"/>
            <a:ext cx="53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highlight>
                  <a:srgbClr val="D4AF37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19"/>
          <p:cNvSpPr/>
          <p:nvPr/>
        </p:nvSpPr>
        <p:spPr>
          <a:xfrm>
            <a:off x="8133457" y="4572000"/>
            <a:ext cx="647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algn="ctr" indent="0" marL="0">
              <a:buNone/>
            </a:pPr>
            <a:r>
              <a:rPr lang="en-US" sz="800" b="1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(3 methods)</a:t>
            </a:r>
            <a:endParaRPr lang="en-US" sz="900" dirty="0"/>
          </a:p>
        </p:txBody>
      </p:sp>
      <p:pic>
        <p:nvPicPr>
          <p:cNvPr id="4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29700" y="4352925"/>
            <a:ext cx="161925" cy="171450"/>
          </a:xfrm>
          <a:prstGeom prst="rect">
            <a:avLst/>
          </a:prstGeom>
        </p:spPr>
      </p:pic>
      <p:pic>
        <p:nvPicPr>
          <p:cNvPr id="4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39275" y="4029075"/>
            <a:ext cx="561975" cy="552450"/>
          </a:xfrm>
          <a:prstGeom prst="rect">
            <a:avLst/>
          </a:prstGeom>
        </p:spPr>
      </p:pic>
      <p:sp>
        <p:nvSpPr>
          <p:cNvPr id="48" name="Text 20"/>
          <p:cNvSpPr/>
          <p:nvPr/>
        </p:nvSpPr>
        <p:spPr>
          <a:xfrm>
            <a:off x="9453116" y="4038600"/>
            <a:ext cx="53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2D7D5E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Text 21"/>
          <p:cNvSpPr/>
          <p:nvPr/>
        </p:nvSpPr>
        <p:spPr>
          <a:xfrm>
            <a:off x="9448354" y="4648200"/>
            <a:ext cx="54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</a:t>
            </a:r>
            <a:endParaRPr lang="en-US" sz="900" dirty="0"/>
          </a:p>
        </p:txBody>
      </p:sp>
      <p:pic>
        <p:nvPicPr>
          <p:cNvPr id="50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239375" y="4352925"/>
            <a:ext cx="161925" cy="171450"/>
          </a:xfrm>
          <a:prstGeom prst="rect">
            <a:avLst/>
          </a:prstGeom>
        </p:spPr>
      </p:pic>
      <p:pic>
        <p:nvPicPr>
          <p:cNvPr id="51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648950" y="4029075"/>
            <a:ext cx="552450" cy="552450"/>
          </a:xfrm>
          <a:prstGeom prst="rect">
            <a:avLst/>
          </a:prstGeom>
        </p:spPr>
      </p:pic>
      <p:sp>
        <p:nvSpPr>
          <p:cNvPr id="52" name="Text 22"/>
          <p:cNvSpPr/>
          <p:nvPr/>
        </p:nvSpPr>
        <p:spPr>
          <a:xfrm>
            <a:off x="10658475" y="4038600"/>
            <a:ext cx="53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2D7D5E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Text 23"/>
          <p:cNvSpPr/>
          <p:nvPr/>
        </p:nvSpPr>
        <p:spPr>
          <a:xfrm>
            <a:off x="10663238" y="4648200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900" dirty="0"/>
          </a:p>
        </p:txBody>
      </p:sp>
      <p:sp>
        <p:nvSpPr>
          <p:cNvPr id="54" name="Text 24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675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514475"/>
            <a:ext cx="2514600" cy="1524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625" y="1514475"/>
            <a:ext cx="2514600" cy="1524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0775" y="1514475"/>
            <a:ext cx="2514600" cy="1524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4925" y="1514475"/>
            <a:ext cx="2514600" cy="1524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3324225"/>
            <a:ext cx="5200650" cy="28765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8875" y="3324225"/>
            <a:ext cx="5200650" cy="287655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762000" y="762000"/>
            <a:ext cx="441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Methods Agree</a:t>
            </a:r>
            <a:endParaRPr lang="en-US" sz="3400" dirty="0"/>
          </a:p>
        </p:txBody>
      </p:sp>
      <p:sp>
        <p:nvSpPr>
          <p:cNvPr id="12" name="Text 1"/>
          <p:cNvSpPr/>
          <p:nvPr/>
        </p:nvSpPr>
        <p:spPr>
          <a:xfrm>
            <a:off x="1000125" y="1762125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R² Score</a:t>
            </a:r>
            <a:endParaRPr lang="en-US" sz="900" dirty="0"/>
          </a:p>
        </p:txBody>
      </p:sp>
      <p:sp>
        <p:nvSpPr>
          <p:cNvPr id="13" name="Text 2"/>
          <p:cNvSpPr/>
          <p:nvPr/>
        </p:nvSpPr>
        <p:spPr>
          <a:xfrm>
            <a:off x="1000125" y="2028825"/>
            <a:ext cx="2019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0.72–0.73</a:t>
            </a:r>
            <a:endParaRPr lang="en-US" sz="2500" dirty="0"/>
          </a:p>
        </p:txBody>
      </p:sp>
      <p:sp>
        <p:nvSpPr>
          <p:cNvPr id="14" name="Text 3"/>
          <p:cNvSpPr/>
          <p:nvPr/>
        </p:nvSpPr>
        <p:spPr>
          <a:xfrm>
            <a:off x="3724275" y="1762125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MSE</a:t>
            </a:r>
            <a:endParaRPr lang="en-US" sz="900" dirty="0"/>
          </a:p>
        </p:txBody>
      </p:sp>
      <p:sp>
        <p:nvSpPr>
          <p:cNvPr id="15" name="Text 4"/>
          <p:cNvSpPr/>
          <p:nvPr/>
        </p:nvSpPr>
        <p:spPr>
          <a:xfrm>
            <a:off x="3724275" y="2028825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900</a:t>
            </a:r>
            <a:endParaRPr lang="en-US" sz="2500" dirty="0"/>
          </a:p>
        </p:txBody>
      </p:sp>
      <p:sp>
        <p:nvSpPr>
          <p:cNvPr id="16" name="Text 5"/>
          <p:cNvSpPr/>
          <p:nvPr/>
        </p:nvSpPr>
        <p:spPr>
          <a:xfrm>
            <a:off x="6448425" y="1762125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Predictions within</a:t>
            </a:r>
            <a:endParaRPr lang="en-US" sz="900" dirty="0"/>
          </a:p>
        </p:txBody>
      </p:sp>
      <p:sp>
        <p:nvSpPr>
          <p:cNvPr id="17" name="Text 6"/>
          <p:cNvSpPr/>
          <p:nvPr/>
        </p:nvSpPr>
        <p:spPr>
          <a:xfrm>
            <a:off x="6448425" y="2028825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 g/km</a:t>
            </a:r>
            <a:endParaRPr lang="en-US" sz="2500" dirty="0"/>
          </a:p>
        </p:txBody>
      </p:sp>
      <p:sp>
        <p:nvSpPr>
          <p:cNvPr id="18" name="Text 7"/>
          <p:cNvSpPr/>
          <p:nvPr/>
        </p:nvSpPr>
        <p:spPr>
          <a:xfrm>
            <a:off x="9172575" y="1762125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 diff vs sklearn</a:t>
            </a:r>
            <a:endParaRPr lang="en-US" sz="900" dirty="0"/>
          </a:p>
        </p:txBody>
      </p:sp>
      <p:sp>
        <p:nvSpPr>
          <p:cNvPr id="19" name="Text 8"/>
          <p:cNvSpPr/>
          <p:nvPr/>
        </p:nvSpPr>
        <p:spPr>
          <a:xfrm>
            <a:off x="9172575" y="2028825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10⁻¹²</a:t>
            </a:r>
            <a:endParaRPr lang="en-US" sz="2500" dirty="0"/>
          </a:p>
        </p:txBody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3562350"/>
            <a:ext cx="4724400" cy="2400300"/>
          </a:xfrm>
          <a:prstGeom prst="rect">
            <a:avLst/>
          </a:prstGeom>
        </p:spPr>
      </p:pic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562350"/>
            <a:ext cx="4724400" cy="240030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0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590925"/>
            <a:ext cx="2076450" cy="11239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4038600"/>
            <a:ext cx="142875" cy="1333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1225" y="1781175"/>
            <a:ext cx="7896225" cy="48863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1225" y="3590925"/>
            <a:ext cx="2009775" cy="11239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5550" y="4038600"/>
            <a:ext cx="142875" cy="1333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62000" y="762000"/>
            <a:ext cx="6353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 the Model Learn</a:t>
            </a:r>
            <a:endParaRPr lang="en-US" sz="3400" dirty="0"/>
          </a:p>
        </p:txBody>
      </p:sp>
      <p:sp>
        <p:nvSpPr>
          <p:cNvPr id="11" name="Text 1"/>
          <p:cNvSpPr/>
          <p:nvPr/>
        </p:nvSpPr>
        <p:spPr>
          <a:xfrm>
            <a:off x="762000" y="1619250"/>
            <a:ext cx="1066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Rapid error drop, then stable convergence.</a:t>
            </a:r>
            <a:endParaRPr lang="en-US" sz="1700" dirty="0"/>
          </a:p>
        </p:txBody>
      </p:sp>
      <p:sp>
        <p:nvSpPr>
          <p:cNvPr id="12" name="Text 2"/>
          <p:cNvSpPr/>
          <p:nvPr/>
        </p:nvSpPr>
        <p:spPr>
          <a:xfrm>
            <a:off x="938213" y="3838575"/>
            <a:ext cx="1190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Rapid learning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</a:t>
            </a:r>
            <a:endParaRPr lang="en-US" sz="1200" dirty="0"/>
          </a:p>
        </p:txBody>
      </p:sp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1300" y="2381250"/>
            <a:ext cx="6696075" cy="344805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10358438" y="3838575"/>
            <a:ext cx="1123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Convergence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plateau</a:t>
            </a:r>
            <a:endParaRPr lang="en-US" sz="1200" dirty="0"/>
          </a:p>
        </p:txBody>
      </p:sp>
      <p:sp>
        <p:nvSpPr>
          <p:cNvPr id="15" name="Text 4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0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343025"/>
            <a:ext cx="133350" cy="1333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1552575"/>
            <a:ext cx="10267950" cy="530542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62000" y="762000"/>
            <a:ext cx="5019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Math to Reality</a:t>
            </a:r>
            <a:endParaRPr lang="en-US" sz="3400" dirty="0"/>
          </a:p>
        </p:txBody>
      </p:sp>
      <p:sp>
        <p:nvSpPr>
          <p:cNvPr id="8" name="Text 1"/>
          <p:cNvSpPr/>
          <p:nvPr/>
        </p:nvSpPr>
        <p:spPr>
          <a:xfrm>
            <a:off x="1028700" y="1295400"/>
            <a:ext cx="53686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Insight: A simple linear model produces practical accuracy (</a:t>
            </a:r>
            <a:pPr indent="0" marL="0">
              <a:buNone/>
            </a:pPr>
            <a:r>
              <a:rPr lang="en-US" sz="1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±30 g/km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100" dirty="0"/>
          </a:p>
        </p:txBody>
      </p:sp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2100" y="2152650"/>
            <a:ext cx="9067800" cy="41148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762000" y="66484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475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943100"/>
            <a:ext cx="3371850" cy="26860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4075" y="2257425"/>
            <a:ext cx="628650" cy="6286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0075" y="1943100"/>
            <a:ext cx="3371850" cy="2686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1675" y="2257425"/>
            <a:ext cx="628650" cy="6286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675" y="1943100"/>
            <a:ext cx="3371850" cy="2686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9275" y="2257425"/>
            <a:ext cx="628650" cy="6286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4125" y="4686300"/>
            <a:ext cx="7143750" cy="4762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6950" y="4686300"/>
            <a:ext cx="38100" cy="4762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76950" y="5143500"/>
            <a:ext cx="38100" cy="24765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762000" y="762000"/>
            <a:ext cx="396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3400" dirty="0"/>
          </a:p>
        </p:txBody>
      </p:sp>
      <p:pic>
        <p:nvPicPr>
          <p:cNvPr id="1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95525" y="2409825"/>
            <a:ext cx="285750" cy="323850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1238250" y="3105150"/>
            <a:ext cx="240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Mathematical Truth</a:t>
            </a:r>
            <a:endParaRPr lang="en-US" sz="1700" dirty="0"/>
          </a:p>
        </p:txBody>
      </p:sp>
      <p:sp>
        <p:nvSpPr>
          <p:cNvPr id="17" name="Text 2"/>
          <p:cNvSpPr/>
          <p:nvPr/>
        </p:nvSpPr>
        <p:spPr>
          <a:xfrm>
            <a:off x="1076325" y="3562350"/>
            <a:ext cx="2724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algebra fundamentals are sufficient to build regression end-to-end</a:t>
            </a:r>
            <a:endParaRPr lang="en-US" sz="1100" dirty="0"/>
          </a:p>
        </p:txBody>
      </p:sp>
      <p:pic>
        <p:nvPicPr>
          <p:cNvPr id="1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72175" y="2409825"/>
            <a:ext cx="247650" cy="323850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4962525" y="3105150"/>
            <a:ext cx="2266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Practical Insight</a:t>
            </a:r>
            <a:endParaRPr lang="en-US" sz="1700" dirty="0"/>
          </a:p>
        </p:txBody>
      </p:sp>
      <p:sp>
        <p:nvSpPr>
          <p:cNvPr id="20" name="Text 4"/>
          <p:cNvSpPr/>
          <p:nvPr/>
        </p:nvSpPr>
        <p:spPr>
          <a:xfrm>
            <a:off x="4733925" y="3562350"/>
            <a:ext cx="2724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From-scratch weights match sklearn (≈ 10⁻¹² difference)</a:t>
            </a:r>
            <a:endParaRPr lang="en-US" sz="1100" dirty="0"/>
          </a:p>
        </p:txBody>
      </p:sp>
      <p:pic>
        <p:nvPicPr>
          <p:cNvPr id="2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29775" y="2409825"/>
            <a:ext cx="247650" cy="323850"/>
          </a:xfrm>
          <a:prstGeom prst="rect">
            <a:avLst/>
          </a:prstGeom>
        </p:spPr>
      </p:pic>
      <p:sp>
        <p:nvSpPr>
          <p:cNvPr id="22" name="Text 5"/>
          <p:cNvSpPr/>
          <p:nvPr/>
        </p:nvSpPr>
        <p:spPr>
          <a:xfrm>
            <a:off x="8620125" y="3105150"/>
            <a:ext cx="2266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Real-World Impact</a:t>
            </a:r>
            <a:endParaRPr lang="en-US" sz="1700" dirty="0"/>
          </a:p>
        </p:txBody>
      </p:sp>
      <p:sp>
        <p:nvSpPr>
          <p:cNvPr id="23" name="Text 6"/>
          <p:cNvSpPr/>
          <p:nvPr/>
        </p:nvSpPr>
        <p:spPr>
          <a:xfrm>
            <a:off x="8391525" y="3562350"/>
            <a:ext cx="2724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Emission predictions support sustainability decisions</a:t>
            </a:r>
            <a:endParaRPr lang="en-US" sz="1100" dirty="0"/>
          </a:p>
        </p:txBody>
      </p:sp>
      <p:pic>
        <p:nvPicPr>
          <p:cNvPr id="2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86275" y="5086350"/>
            <a:ext cx="3219450" cy="1162050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5391150" y="5534025"/>
            <a:ext cx="1714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highlight>
                  <a:srgbClr val="C1E3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Green AI impact</a:t>
            </a:r>
            <a:endParaRPr lang="en-US" sz="1400" dirty="0"/>
          </a:p>
        </p:txBody>
      </p:sp>
      <p:pic>
        <p:nvPicPr>
          <p:cNvPr id="2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76825" y="5562600"/>
            <a:ext cx="209550" cy="209550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875" y="2162175"/>
            <a:ext cx="1238250" cy="76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7025" y="3514725"/>
            <a:ext cx="323850" cy="3238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475" y="3514725"/>
            <a:ext cx="323850" cy="3238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7025" y="4048125"/>
            <a:ext cx="323850" cy="3238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8475" y="4048125"/>
            <a:ext cx="323850" cy="3238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7025" y="4581525"/>
            <a:ext cx="323850" cy="3238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8475" y="4581525"/>
            <a:ext cx="323850" cy="3238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67025" y="5114925"/>
            <a:ext cx="323850" cy="3238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48475" y="5114925"/>
            <a:ext cx="323850" cy="3238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86325" y="5648325"/>
            <a:ext cx="333375" cy="32385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523059" y="895350"/>
            <a:ext cx="5145881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800" dirty="0"/>
          </a:p>
        </p:txBody>
      </p:sp>
      <p:sp>
        <p:nvSpPr>
          <p:cNvPr id="16" name="Text 1"/>
          <p:cNvSpPr/>
          <p:nvPr/>
        </p:nvSpPr>
        <p:spPr>
          <a:xfrm>
            <a:off x="3523059" y="2533650"/>
            <a:ext cx="51458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500" dirty="0"/>
          </a:p>
        </p:txBody>
      </p:sp>
      <p:pic>
        <p:nvPicPr>
          <p:cNvPr id="1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52750" y="3600450"/>
            <a:ext cx="152400" cy="152400"/>
          </a:xfrm>
          <a:prstGeom prst="rect">
            <a:avLst/>
          </a:prstGeom>
        </p:spPr>
      </p:pic>
      <p:sp>
        <p:nvSpPr>
          <p:cNvPr id="18" name="Text 2"/>
          <p:cNvSpPr/>
          <p:nvPr/>
        </p:nvSpPr>
        <p:spPr>
          <a:xfrm>
            <a:off x="3333750" y="3524250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Ahmed Roshdy</a:t>
            </a:r>
            <a:endParaRPr lang="en-US" sz="1700" dirty="0"/>
          </a:p>
        </p:txBody>
      </p:sp>
      <p:pic>
        <p:nvPicPr>
          <p:cNvPr id="1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34200" y="3600450"/>
            <a:ext cx="152400" cy="152400"/>
          </a:xfrm>
          <a:prstGeom prst="rect">
            <a:avLst/>
          </a:prstGeom>
        </p:spPr>
      </p:pic>
      <p:sp>
        <p:nvSpPr>
          <p:cNvPr id="20" name="Text 3"/>
          <p:cNvSpPr/>
          <p:nvPr/>
        </p:nvSpPr>
        <p:spPr>
          <a:xfrm>
            <a:off x="7315200" y="3524250"/>
            <a:ext cx="1466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Khalid Osam</a:t>
            </a:r>
            <a:endParaRPr lang="en-US" sz="1700" dirty="0"/>
          </a:p>
        </p:txBody>
      </p:sp>
      <p:pic>
        <p:nvPicPr>
          <p:cNvPr id="2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52750" y="4133850"/>
            <a:ext cx="152400" cy="152400"/>
          </a:xfrm>
          <a:prstGeom prst="rect">
            <a:avLst/>
          </a:prstGeom>
        </p:spPr>
      </p:pic>
      <p:sp>
        <p:nvSpPr>
          <p:cNvPr id="22" name="Text 4"/>
          <p:cNvSpPr/>
          <p:nvPr/>
        </p:nvSpPr>
        <p:spPr>
          <a:xfrm>
            <a:off x="3333750" y="4057650"/>
            <a:ext cx="1466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Omar Shaker</a:t>
            </a:r>
            <a:endParaRPr lang="en-US" sz="1700" dirty="0"/>
          </a:p>
        </p:txBody>
      </p:sp>
      <p:pic>
        <p:nvPicPr>
          <p:cNvPr id="2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4200" y="4133850"/>
            <a:ext cx="152400" cy="152400"/>
          </a:xfrm>
          <a:prstGeom prst="rect">
            <a:avLst/>
          </a:prstGeom>
        </p:spPr>
      </p:pic>
      <p:sp>
        <p:nvSpPr>
          <p:cNvPr id="24" name="Text 5"/>
          <p:cNvSpPr/>
          <p:nvPr/>
        </p:nvSpPr>
        <p:spPr>
          <a:xfrm>
            <a:off x="7315200" y="4057650"/>
            <a:ext cx="1466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Yousef Hany</a:t>
            </a:r>
            <a:endParaRPr lang="en-US" sz="1700" dirty="0"/>
          </a:p>
        </p:txBody>
      </p:sp>
      <p:pic>
        <p:nvPicPr>
          <p:cNvPr id="2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52750" y="4667250"/>
            <a:ext cx="152400" cy="152400"/>
          </a:xfrm>
          <a:prstGeom prst="rect">
            <a:avLst/>
          </a:prstGeom>
        </p:spPr>
      </p:pic>
      <p:sp>
        <p:nvSpPr>
          <p:cNvPr id="26" name="Text 6"/>
          <p:cNvSpPr/>
          <p:nvPr/>
        </p:nvSpPr>
        <p:spPr>
          <a:xfrm>
            <a:off x="3333750" y="4591050"/>
            <a:ext cx="133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 Tamer</a:t>
            </a:r>
            <a:endParaRPr lang="en-US" sz="1700" dirty="0"/>
          </a:p>
        </p:txBody>
      </p:sp>
      <p:pic>
        <p:nvPicPr>
          <p:cNvPr id="2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34200" y="4667250"/>
            <a:ext cx="152400" cy="152400"/>
          </a:xfrm>
          <a:prstGeom prst="rect">
            <a:avLst/>
          </a:prstGeom>
        </p:spPr>
      </p:pic>
      <p:sp>
        <p:nvSpPr>
          <p:cNvPr id="28" name="Text 7"/>
          <p:cNvSpPr/>
          <p:nvPr/>
        </p:nvSpPr>
        <p:spPr>
          <a:xfrm>
            <a:off x="7315200" y="4591050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Hassan Eslam</a:t>
            </a:r>
            <a:endParaRPr lang="en-US" sz="1700" dirty="0"/>
          </a:p>
        </p:txBody>
      </p:sp>
      <p:pic>
        <p:nvPicPr>
          <p:cNvPr id="2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52750" y="5200650"/>
            <a:ext cx="152400" cy="152400"/>
          </a:xfrm>
          <a:prstGeom prst="rect">
            <a:avLst/>
          </a:prstGeom>
        </p:spPr>
      </p:pic>
      <p:sp>
        <p:nvSpPr>
          <p:cNvPr id="30" name="Text 8"/>
          <p:cNvSpPr/>
          <p:nvPr/>
        </p:nvSpPr>
        <p:spPr>
          <a:xfrm>
            <a:off x="3333750" y="5124450"/>
            <a:ext cx="1466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Carlos Emad</a:t>
            </a:r>
            <a:endParaRPr lang="en-US" sz="1700" dirty="0"/>
          </a:p>
        </p:txBody>
      </p:sp>
      <p:pic>
        <p:nvPicPr>
          <p:cNvPr id="3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34200" y="5200650"/>
            <a:ext cx="152400" cy="152400"/>
          </a:xfrm>
          <a:prstGeom prst="rect">
            <a:avLst/>
          </a:prstGeom>
        </p:spPr>
      </p:pic>
      <p:sp>
        <p:nvSpPr>
          <p:cNvPr id="32" name="Text 9"/>
          <p:cNvSpPr/>
          <p:nvPr/>
        </p:nvSpPr>
        <p:spPr>
          <a:xfrm>
            <a:off x="7315200" y="5124450"/>
            <a:ext cx="200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Mohamed Elsayed</a:t>
            </a:r>
            <a:endParaRPr lang="en-US" sz="1700" dirty="0"/>
          </a:p>
        </p:txBody>
      </p:sp>
      <p:pic>
        <p:nvPicPr>
          <p:cNvPr id="3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72050" y="5734050"/>
            <a:ext cx="161925" cy="152400"/>
          </a:xfrm>
          <a:prstGeom prst="rect">
            <a:avLst/>
          </a:prstGeom>
        </p:spPr>
      </p:pic>
      <p:sp>
        <p:nvSpPr>
          <p:cNvPr id="34" name="Text 10"/>
          <p:cNvSpPr/>
          <p:nvPr/>
        </p:nvSpPr>
        <p:spPr>
          <a:xfrm>
            <a:off x="5351163" y="5657850"/>
            <a:ext cx="1466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Ahmed Fouad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dokie</dc:creator>
  <cp:lastModifiedBy>dokie</cp:lastModifiedBy>
  <cp:revision>1</cp:revision>
  <dcterms:created xsi:type="dcterms:W3CDTF">2026-04-25T06:20:34Z</dcterms:created>
  <dcterms:modified xsi:type="dcterms:W3CDTF">2026-04-25T06:20:34Z</dcterms:modified>
</cp:coreProperties>
</file>