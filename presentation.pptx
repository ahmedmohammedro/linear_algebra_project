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Linear Regression from Scratch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86AB"/>
                </a:solidFill>
              </a:defRPr>
            </a:pPr>
            <a:r>
              <a:t>Using Linear Algebra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2743200"/>
            <a:ext cx="4846320" cy="457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39C12"/>
                </a:solidFill>
              </a:defRPr>
            </a:pPr>
            <a:r>
              <a:t>Predicting California Housing Prices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9319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Omar Shaker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39319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Ahmad Roshdy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9319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Mark Tamer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59" y="39319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Khalid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Carlos Emad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47548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Ahmad Fouad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47548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Yousef Hany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59" y="47548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Mohammad Elsayed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</a:defRPr>
            </a:pPr>
            <a:r>
              <a:t>Linear Algebra Project  |  Computer Science Freshmen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640080" cy="5029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361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Machine Learning &amp; Linear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64008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219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Our Dataset: California Housing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34640"/>
            <a:ext cx="640080" cy="502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9077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Linear Algebra Review: Matrices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520440"/>
            <a:ext cx="640080" cy="5029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93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The Normal Equation (Core Method)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06240"/>
            <a:ext cx="64008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2793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Results &amp; Evaluation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92040"/>
            <a:ext cx="64008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9651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Preview: Gradient Descent &amp; Ridge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577840"/>
            <a:ext cx="640080" cy="5029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509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A2E"/>
                </a:solidFill>
              </a:defRPr>
            </a:pPr>
            <a:r>
              <a:t>Key Takeaways &amp; What's Next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What is Machine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</a:defRPr>
            </a:pPr>
            <a:r>
              <a:t>Machine Learning = Teaching computers to learn from DATA instead of explicit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029200" cy="164592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Traditional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Input + Rules  --&gt;  Output</a:t>
            </a:r>
            <a:br/>
            <a:r>
              <a:t>(Human writes the rules)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029200" cy="1645920"/>
          </a:xfrm>
          <a:prstGeom prst="roundRect">
            <a:avLst/>
          </a:prstGeom>
          <a:solidFill>
            <a:srgbClr val="E0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Input + Output  --&gt;  Rules</a:t>
            </a:r>
            <a:br/>
            <a:r>
              <a:t>(Computer learns the rules!)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246888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Netflix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</a:defRPr>
            </a:pPr>
            <a:r>
              <a:t>Recommends movies</a:t>
            </a:r>
            <a:br/>
            <a:r>
              <a:t>you'll like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572000"/>
            <a:ext cx="246888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</a:defRPr>
            </a:pPr>
            <a:r>
              <a:t>Filters spam</a:t>
            </a:r>
            <a:br/>
            <a:r>
              <a:t>automatically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572000"/>
            <a:ext cx="246888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Google Maps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</a:defRPr>
            </a:pPr>
            <a:r>
              <a:t>Predicts traffic</a:t>
            </a:r>
            <a:br/>
            <a:r>
              <a:t>&amp; travel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4572000"/>
            <a:ext cx="246888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Siri/Alexa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</a:defRPr>
            </a:pPr>
            <a:r>
              <a:t>Understands your</a:t>
            </a:r>
            <a:br/>
            <a:r>
              <a:t>voice commands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What is Linear Regression?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Finding the best straight line through data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</a:defRPr>
            </a:pPr>
            <a:r>
              <a:t>Imagine you have data about houses:</a:t>
            </a:r>
            <a:br/>
            <a:r>
              <a:t>  - House with income $30K --&gt; worth $150K</a:t>
            </a:r>
            <a:br/>
            <a:r>
              <a:t>  - House with income $50K --&gt; worth $250K</a:t>
            </a:r>
            <a:br/>
            <a:r>
              <a:t>  - House with income $80K --&gt; worth $400K</a:t>
            </a:r>
            <a:br/>
            <a:br/>
            <a:r>
              <a:t>Linear Regression finds the LINE that best</a:t>
            </a:r>
            <a:br/>
            <a:r>
              <a:t>connects these points, so we can PREDICT</a:t>
            </a:r>
            <a:br/>
            <a:r>
              <a:t>the price for ANY income level!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645920"/>
            <a:ext cx="4572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86AB"/>
                </a:solidFill>
              </a:defRPr>
            </a:pPr>
            <a:r>
              <a:t>The Idea: Fit a Line Through Points</a:t>
            </a:r>
          </a:p>
        </p:txBody>
      </p:sp>
      <p:sp>
        <p:nvSpPr>
          <p:cNvPr id="8" name="Oval 7"/>
          <p:cNvSpPr/>
          <p:nvPr/>
        </p:nvSpPr>
        <p:spPr>
          <a:xfrm>
            <a:off x="7315200" y="502920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0" y="457200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0" y="438912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0" y="384048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347472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0" y="320040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0" y="274320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0" y="2286000"/>
            <a:ext cx="182880" cy="1828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0" y="5212080"/>
            <a:ext cx="4114800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6511D"/>
                </a:solidFill>
              </a:defRPr>
            </a:pPr>
            <a:r>
              <a:t>y = theta_0 + theta_1 * 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9200"/>
            <a:ext cx="502920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Goal: Find theta values that minimize</a:t>
            </a:r>
            <a:br/>
            <a:r>
              <a:t>the distance between line and points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Real-World Applications of Linear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5029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House Prices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Predict price based on</a:t>
            </a:r>
            <a:br/>
            <a:r>
              <a:t>size, location, rooms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291840"/>
            <a:ext cx="1463040" cy="32004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2E86AB"/>
                </a:solidFill>
              </a:defRPr>
            </a:pPr>
            <a:r>
              <a:t>Our project!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29184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645920"/>
            <a:ext cx="3291840" cy="5029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Stock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39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Forecast stock trends</a:t>
            </a:r>
            <a:br/>
            <a:r>
              <a:t>from historical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59" y="3291840"/>
            <a:ext cx="1463040" cy="32004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F6511D"/>
                </a:solidFill>
              </a:defRPr>
            </a:pPr>
            <a:r>
              <a:t>Finance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29184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3291840" cy="502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Weather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Predict temperature</a:t>
            </a:r>
            <a:br/>
            <a:r>
              <a:t>from atmospheric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3291840"/>
            <a:ext cx="1463040" cy="32004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3498DB"/>
                </a:solidFill>
              </a:defRPr>
            </a:pPr>
            <a:r>
              <a:t>Meteorology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06240"/>
            <a:ext cx="329184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329184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Medicine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Estimate drug dosage</a:t>
            </a:r>
            <a:br/>
            <a:r>
              <a:t>based on patient weight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5852160"/>
            <a:ext cx="1463040" cy="32004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2ECC71"/>
                </a:solidFill>
              </a:defRPr>
            </a:pPr>
            <a:r>
              <a:t>Healthcare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4206240"/>
            <a:ext cx="329184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59" y="4206240"/>
            <a:ext cx="329184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Marketing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39" y="4846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Predict sales based</a:t>
            </a:r>
            <a:br/>
            <a:r>
              <a:t>on ad spending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59" y="5852160"/>
            <a:ext cx="1463040" cy="32004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9B59B6"/>
                </a:solidFill>
              </a:defRPr>
            </a:pPr>
            <a:r>
              <a:t>Business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4206240"/>
            <a:ext cx="329184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0" y="4206240"/>
            <a:ext cx="329184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46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Predict material</a:t>
            </a:r>
            <a:br/>
            <a:r>
              <a:t>strength from composition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5852160"/>
            <a:ext cx="1463040" cy="32004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E74C3C"/>
                </a:solidFill>
              </a:defRPr>
            </a:pPr>
            <a:r>
              <a:t>Manufacturing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Our Dataset: California Housing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920240" cy="13716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600" b="1">
                <a:solidFill>
                  <a:srgbClr val="F39C12"/>
                </a:solidFill>
              </a:defRPr>
            </a:pPr>
            <a:r>
              <a:t>20,640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Data Points</a:t>
            </a:r>
            <a:br/>
            <a:r>
              <a:t>(Neighborhoods)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554480"/>
            <a:ext cx="1920240" cy="13716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600" b="1">
                <a:solidFill>
                  <a:srgbClr val="F39C12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Features</a:t>
            </a:r>
            <a:br/>
            <a:r>
              <a:t>(Input Columns)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554480"/>
            <a:ext cx="1920240" cy="13716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600" b="1">
                <a:solidFill>
                  <a:srgbClr val="F39C12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3774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Target</a:t>
            </a:r>
            <a:br/>
            <a:r>
              <a:t>(House Price)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</a:defRPr>
            </a:pPr>
            <a:r>
              <a:t>Features (Columns)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82880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MedInc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874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Median Income ($10Ks)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33172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HouseAge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377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Median House Age (years)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83464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AveRooms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Average Rooms per House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33756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AveBedrms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Average Bedrooms per House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84048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Population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886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Block Population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34340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AveOccup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Average Occupancy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84632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Latitude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4892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Latitude (location)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349240"/>
            <a:ext cx="16459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Longitude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394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Longitude (location)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943600"/>
            <a:ext cx="4114800" cy="45720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Target: MedHouseVal (Median House Value in $100Ks)</a:t>
            </a:r>
          </a:p>
        </p:txBody>
      </p:sp>
      <p:pic>
        <p:nvPicPr>
          <p:cNvPr id="28" name="Picture 27" descr="geographic_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00400"/>
            <a:ext cx="5943600" cy="61007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Exploring Our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7</a:t>
            </a:r>
          </a:p>
        </p:txBody>
      </p:sp>
      <p:pic>
        <p:nvPicPr>
          <p:cNvPr id="4" name="Picture 3" descr="house_valu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2075679"/>
          </a:xfrm>
          <a:prstGeom prst="rect">
            <a:avLst/>
          </a:prstGeom>
        </p:spPr>
      </p:pic>
      <p:pic>
        <p:nvPicPr>
          <p:cNvPr id="5" name="Picture 4" descr="income_vs_valu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669280" cy="35325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5669280"/>
            <a:ext cx="1097280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Key Insight: There IS a linear trend! Higher income = Higher house prices. This is what Linear Regression captures.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Correlation Matrix - A Real Matrix from Linear Algebra!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8</a:t>
            </a:r>
          </a:p>
        </p:txBody>
      </p:sp>
      <p:pic>
        <p:nvPicPr>
          <p:cNvPr id="4" name="Picture 3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400800" cy="5555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What does this tell us?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286000"/>
            <a:ext cx="4389120" cy="9144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MedInc has the STRONGEST</a:t>
            </a:r>
            <a:br/>
            <a:r>
              <a:t>correlation with price (0.69)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3383280"/>
            <a:ext cx="4389120" cy="9144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Latitude &amp; Longitude show</a:t>
            </a:r>
            <a:br/>
            <a:r>
              <a:t>location affects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4480560"/>
            <a:ext cx="4389120" cy="91440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AveRooms &amp; AveBedrms are</a:t>
            </a:r>
            <a:br/>
            <a:r>
              <a:t>highly correlated (0.85)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5577840"/>
            <a:ext cx="4389120" cy="9144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This IS a matrix!</a:t>
            </a:r>
            <a:br/>
            <a:r>
              <a:t>Each cell = correlation between</a:t>
            </a:r>
            <a:br/>
            <a:r>
              <a:t>two features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Review: What is a Matrix?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6AB"/>
                </a:solidFill>
              </a:defRPr>
            </a:pPr>
            <a:r>
              <a:t>Connecting to your syllabus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A matrix is a rectangular array of numbers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41148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AB"/>
                </a:solidFill>
              </a:defRPr>
            </a:pPr>
            <a:r>
              <a:t>Matrix A (3 x 3):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60320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2560320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560320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200400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200400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3200400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840479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3840479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3840479"/>
            <a:ext cx="82296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200" b="1">
                <a:solidFill>
                  <a:srgbClr val="1B2A4A"/>
                </a:solidFill>
              </a:defRPr>
            </a:pPr>
            <a:r>
              <a:t>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554480"/>
            <a:ext cx="1645920" cy="5943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16002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Horizontal lines (data points)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331720"/>
            <a:ext cx="1645920" cy="5943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Columns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37744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Vertical lines (features)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108960"/>
            <a:ext cx="1645920" cy="5943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Dimensions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1546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m x n (rows x columns)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886200"/>
            <a:ext cx="1645920" cy="5943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9319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A[i,j] = value at row i, col j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029200"/>
            <a:ext cx="10972800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120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In our project: Our DATA is a matrix!</a:t>
            </a:r>
            <a:br/>
            <a:r>
              <a:t>    X = 20,640 rows (houses)  x  8 columns (features)  --&gt;  a 20,640 x 8 matrix</a:t>
            </a:r>
            <a:br/>
            <a:r>
              <a:t>    y = 20,640 rows (prices)  x  1 column               --&gt;  a 20,640 x 1 vector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Matrix Operations We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5029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Transpose (X^T)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Flip rows and columns!</a:t>
            </a:r>
            <a:br/>
            <a:br/>
            <a:r>
              <a:t>If X is (m x n)</a:t>
            </a:r>
            <a:br/>
            <a:r>
              <a:t>then X^T is (n x m)</a:t>
            </a:r>
            <a:br/>
            <a:br/>
            <a:r>
              <a:t>Python: X.T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554480"/>
            <a:ext cx="35661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5029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Multiplication (A @ 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94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Combine two matrices!</a:t>
            </a:r>
            <a:br/>
            <a:br/>
            <a:r>
              <a:t>(m x n) @ (n x p) = (m x p)</a:t>
            </a:r>
            <a:br/>
            <a:r>
              <a:t>Columns of A must = Rows of B</a:t>
            </a:r>
            <a:br/>
            <a:br/>
            <a:r>
              <a:t>Python: A @ 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38160" y="1554480"/>
            <a:ext cx="356616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Inverse (A^-1)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194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"Undo" a matrix!</a:t>
            </a:r>
            <a:br/>
            <a:br/>
            <a:r>
              <a:t>A @ A^-1 = I (identity)</a:t>
            </a:r>
            <a:br/>
            <a:r>
              <a:t>Only for square matrices</a:t>
            </a:r>
            <a:br/>
            <a:br/>
            <a:r>
              <a:t>Python: np.linalg.inv(A)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11247120" cy="731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0">
                <a:solidFill>
                  <a:srgbClr val="1B2A4A"/>
                </a:solidFill>
              </a:defRPr>
            </a:pPr>
            <a:r>
              <a:t>Identity Matrix (I): 1s on diagonal, 0s elsewhere. Like multiplying by 1:  A @ I =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20640"/>
            <a:ext cx="11247120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NumPy Cheat Sheet:</a:t>
            </a:r>
            <a:br/>
            <a:r>
              <a:t>  X.T  --&gt;  Transpose     |     A @ B  --&gt;  Multiply     |     np.linalg.inv(A)  --&gt;  Inverse     |     np.eye(n)  --&gt;  Identity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From Data to Matrices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How our housing data becomes matrices: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02920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Raw Data Table (Pandas DataFrame)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822960" cy="3657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Bias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468880"/>
            <a:ext cx="822960" cy="3657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Income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2468880"/>
            <a:ext cx="822960" cy="3657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468880"/>
            <a:ext cx="822960" cy="3657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Rooms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468880"/>
            <a:ext cx="822960" cy="36576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8036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88036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8.33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288036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41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88036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6.98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880360"/>
            <a:ext cx="822960" cy="3200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4.53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4612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324612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3.85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80" y="324612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52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324612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6.28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246120"/>
            <a:ext cx="822960" cy="3200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1.78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61188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61188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5.64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68880" y="361188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52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611880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5.82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11880"/>
            <a:ext cx="822960" cy="3200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2.10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977639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54480" y="3977639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...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68880" y="3977639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3977639"/>
            <a:ext cx="822960" cy="3200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...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977639"/>
            <a:ext cx="822960" cy="3200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0">
                <a:solidFill>
                  <a:srgbClr val="1A1A2E"/>
                </a:solidFill>
              </a:defRPr>
            </a:pPr>
            <a:r>
              <a:t>...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760720" y="3200400"/>
            <a:ext cx="7315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75120" y="2011680"/>
            <a:ext cx="2743200" cy="27432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103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86AB"/>
                </a:solidFill>
              </a:defRPr>
            </a:pPr>
            <a:r>
              <a:t>Matrix X (n x 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46888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[1, 8.33, 41, 6.98]</a:t>
            </a:r>
            <a:br/>
            <a:r>
              <a:t>[1, 3.85, 52, 6.28]</a:t>
            </a:r>
            <a:br/>
            <a:r>
              <a:t>[1, 5.64, 52, 5.82]</a:t>
            </a:r>
            <a:br/>
            <a:r>
              <a:t>[...  ...  ...  ...]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011680"/>
            <a:ext cx="1828800" cy="274320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6511D"/>
                </a:solidFill>
              </a:defRPr>
            </a:pPr>
            <a:r>
              <a:t>Vector y (n x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2468880"/>
            <a:ext cx="1645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[4.53]</a:t>
            </a:r>
            <a:br/>
            <a:r>
              <a:t>[1.78]</a:t>
            </a:r>
            <a:br/>
            <a:r>
              <a:t>[2.10]</a:t>
            </a:r>
            <a:br/>
            <a:r>
              <a:t>[...]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486400"/>
            <a:ext cx="1124712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Prediction:  y_hat  =  X  @  theta     --&gt;     (20640 x 9)  @  (9 x 1)  =  (20640 x 1)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The Problem: Finding the Best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We want to MINIMIZE the total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Error = difference between our prediction and reality</a:t>
            </a:r>
            <a:br/>
            <a:br/>
            <a:r>
              <a:t>For each house:</a:t>
            </a:r>
            <a:br/>
            <a:r>
              <a:t>    error_i  =  predicted_price_i  -  actual_price_i</a:t>
            </a:r>
            <a:br/>
            <a:br/>
            <a:r>
              <a:t>Total Error (MSE):</a:t>
            </a:r>
            <a:br/>
            <a:r>
              <a:t>    MSE = (1/n) * SUM( error_i ^ 2 )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554480"/>
            <a:ext cx="48463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</a:defRPr>
            </a:pPr>
            <a:r>
              <a:t>Bad Line = Big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3840480"/>
            <a:ext cx="48463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3657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</a:defRPr>
            </a:pPr>
            <a:r>
              <a:t>Good Line = Small Errors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5486400" cy="16459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The Normal Equation gives us the</a:t>
            </a:r>
            <a:br/>
            <a:r>
              <a:t>EXACT theta that minimizes MSE!</a:t>
            </a:r>
            <a:br/>
            <a:br/>
            <a:r>
              <a:t>No guessing. Pure linear algebra.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The Normal Equation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18320" cy="137160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39C12"/>
                </a:solidFill>
              </a:defRPr>
            </a:pPr>
            <a:r>
              <a:t>theta  =  ( X^T  X )^(-1)   X^T   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2468880" cy="54864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1: Transpose</a:t>
            </a:r>
            <a:br/>
            <a:r>
              <a:t>of 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2468880" cy="91440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X^T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Flip rows</a:t>
            </a:r>
            <a:br/>
            <a:r>
              <a:t>and columns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474720"/>
            <a:ext cx="246888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2: Matrix</a:t>
            </a:r>
            <a:br/>
            <a:r>
              <a:t>Multiply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4114800"/>
            <a:ext cx="2468880" cy="91440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X^T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120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Creates a</a:t>
            </a:r>
            <a:br/>
            <a:r>
              <a:t>square matrix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474720"/>
            <a:ext cx="2468880" cy="5486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3: Matrix</a:t>
            </a:r>
            <a:br/>
            <a:r>
              <a:t>Inverse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114800"/>
            <a:ext cx="2468880" cy="91440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(X^T X)^-1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20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"Undo" the</a:t>
            </a:r>
            <a:br/>
            <a:r>
              <a:t>multiplication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3474720"/>
            <a:ext cx="2468880" cy="54864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4: Final</a:t>
            </a:r>
            <a:br/>
            <a:r>
              <a:t>Multiply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4114800"/>
            <a:ext cx="2468880" cy="91440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(...)  X^T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5120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Gives us</a:t>
            </a:r>
            <a:br/>
            <a:r>
              <a:t>the answer!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AB"/>
                </a:solidFill>
              </a:defRPr>
            </a:pPr>
            <a:r>
              <a:t>Every step uses matrix operations from our Linear Algebra class!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Normal Equation - Step by Step (Small Example)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</a:defRPr>
            </a:pPr>
            <a:r>
              <a:t>Let's trace through with 3 houses and 2 features (income, rooms):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3474720" cy="4114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 (3x3)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[1, 3, 5]</a:t>
            </a:r>
            <a:br/>
            <a:r>
              <a:t>[1, 5, 4]</a:t>
            </a:r>
            <a:br/>
            <a:r>
              <a:t>[1, 7, 9]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3360" y="2560320"/>
            <a:ext cx="320040" cy="22860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474720" cy="4114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X^T (3x3)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[1, 1, 1]</a:t>
            </a:r>
            <a:br/>
            <a:r>
              <a:t>[3, 5, 7]</a:t>
            </a:r>
            <a:br/>
            <a:r>
              <a:t>[5, 4, 9]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55280" y="2560320"/>
            <a:ext cx="320040" cy="22860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92024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920240"/>
            <a:ext cx="3474720" cy="4114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X^T X (3x3)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423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[ 3, 15, 18]</a:t>
            </a:r>
            <a:br/>
            <a:r>
              <a:t>[15, 83, 98]</a:t>
            </a:r>
            <a:br/>
            <a:r>
              <a:t>[18, 98,122]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0624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3474720" cy="41148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(X^T X)^-1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Computed by</a:t>
            </a:r>
            <a:br/>
            <a:r>
              <a:t>np.linalg.inv()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023360" y="4846320"/>
            <a:ext cx="320040" cy="22860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420624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420624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y (3x1)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709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[1.5]</a:t>
            </a:r>
            <a:br/>
            <a:r>
              <a:t>[2.8]</a:t>
            </a:r>
            <a:br/>
            <a:r>
              <a:t>[4.0]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55280" y="4846320"/>
            <a:ext cx="320040" cy="22860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420624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4206240"/>
            <a:ext cx="347472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7091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= (X^TX)^-1</a:t>
            </a:r>
            <a:br/>
            <a:r>
              <a:t>  @ X^T @ 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Our Code: Normal Equation in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5943600" cy="484632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69CD6"/>
                </a:solidFill>
                <a:latin typeface="Courier New"/>
              </a:defRPr>
            </a:pPr>
            <a:r>
              <a:t>def normal_equation(X, y):</a:t>
            </a:r>
          </a:p>
          <a:p>
            <a:pPr>
              <a:defRPr sz="1400">
                <a:solidFill>
                  <a:srgbClr val="CE9178"/>
                </a:solidFill>
                <a:latin typeface="Courier New"/>
              </a:defRPr>
            </a:pPr>
            <a:r>
              <a:t>    """Solve for best weights using Normal Equation."""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1400">
                <a:solidFill>
                  <a:srgbClr val="6A9955"/>
                </a:solidFill>
                <a:latin typeface="Courier New"/>
              </a:defRPr>
            </a:pPr>
            <a:r>
              <a:t>    # Step 1: Transpose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X_T = X.T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1400">
                <a:solidFill>
                  <a:srgbClr val="6A9955"/>
                </a:solidFill>
                <a:latin typeface="Courier New"/>
              </a:defRPr>
            </a:pPr>
            <a:r>
              <a:t>    # Step 2: Matrix multiply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XTX = X_T @ X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1400">
                <a:solidFill>
                  <a:srgbClr val="6A9955"/>
                </a:solidFill>
                <a:latin typeface="Courier New"/>
              </a:defRPr>
            </a:pPr>
            <a:r>
              <a:t>    # Step 3: Matrix inverse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XTX_inv = np.linalg.inv(XTX)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1400">
                <a:solidFill>
                  <a:srgbClr val="6A9955"/>
                </a:solidFill>
                <a:latin typeface="Courier New"/>
              </a:defRPr>
            </a:pPr>
            <a:r>
              <a:t>    # Step 4: Final multiply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theta = XTX_inv @ X_T @ y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</a:t>
            </a:r>
          </a:p>
          <a:p>
            <a:pPr>
              <a:defRPr sz="1400">
                <a:solidFill>
                  <a:srgbClr val="D4D4D4"/>
                </a:solidFill>
                <a:latin typeface="Courier New"/>
              </a:defRPr>
            </a:pPr>
            <a:r>
              <a:t>    return theta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828800"/>
            <a:ext cx="411480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X.T flips the matrix</a:t>
            </a:r>
            <a:br/>
            <a:r>
              <a:t>(n x p) --&gt; (p x 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743200"/>
            <a:ext cx="41148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@ is matrix multiply</a:t>
            </a:r>
            <a:br/>
            <a:r>
              <a:t>in Python/NumPy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657600"/>
            <a:ext cx="411480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inv() computes the</a:t>
            </a:r>
            <a:br/>
            <a:r>
              <a:t>matrix inverse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4572000"/>
            <a:ext cx="4114800" cy="7315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Chain multiplications</a:t>
            </a:r>
            <a:br/>
            <a:r>
              <a:t>to get final theta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39C12"/>
                </a:solidFill>
              </a:defRPr>
            </a:pPr>
            <a:r>
              <a:t>Just 4 lines of matrix operations to solve the entire problem!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Results: How Good Is Our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47472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474720" cy="5029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AB"/>
                </a:solidFill>
              </a:defRPr>
            </a:pPr>
            <a:r>
              <a:t>Mean Squared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Average of squared errors</a:t>
            </a:r>
            <a:br/>
            <a:r>
              <a:t>(lower = better)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657600"/>
            <a:ext cx="2011680" cy="6400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~0.52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554480"/>
            <a:ext cx="347472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474720" cy="5029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6511D"/>
                </a:solidFill>
              </a:defRPr>
            </a:pPr>
            <a:r>
              <a:t>Root Mean Squared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Error in same units as price</a:t>
            </a:r>
            <a:br/>
            <a:r>
              <a:t>(easier to interpret)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657600"/>
            <a:ext cx="2011680" cy="64008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~$72K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47472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47472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R-squared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</a:defRPr>
            </a:pPr>
            <a:r>
              <a:t>Coefficient of Determination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60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</a:defRPr>
            </a:pPr>
            <a:r>
              <a:t>% of variance explained</a:t>
            </a:r>
            <a:br/>
            <a:r>
              <a:t>(closer to 1 = better)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3657600"/>
            <a:ext cx="201168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~0.61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29200"/>
            <a:ext cx="11247120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Our model explains ~61% of house price variation using only Linear Algebra!</a:t>
            </a:r>
            <a:br/>
            <a:r>
              <a:t>Average prediction error is ~$72,000 (not bad for a first model!)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Visualization: Actual vs Predicted Prices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17</a:t>
            </a:r>
          </a:p>
        </p:txBody>
      </p:sp>
      <p:pic>
        <p:nvPicPr>
          <p:cNvPr id="4" name="Picture 3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0972800" cy="40426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669280"/>
            <a:ext cx="548640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Left: Points near red line = accurate predictions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5669280"/>
            <a:ext cx="548640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Right: Errors centered at 0 = unbiased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Feature Importance: What Matters Most?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40729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</a:defRPr>
            </a:pPr>
            <a:r>
              <a:t>Key Findings: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2286000"/>
            <a:ext cx="4114800" cy="9144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MedInc: Income is the #1 predictor</a:t>
            </a:r>
            <a:br/>
            <a:r>
              <a:t>of house prices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3383280"/>
            <a:ext cx="4114800" cy="9144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Location: Latitude &amp; Longitude matter</a:t>
            </a:r>
            <a:br/>
            <a:r>
              <a:t>(coastal = expensive)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4480560"/>
            <a:ext cx="4114800" cy="91440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HouseAge: Older areas can be pricier</a:t>
            </a:r>
            <a:br/>
            <a:r>
              <a:t>(established neighborhoods)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5577840"/>
            <a:ext cx="4114800" cy="9144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AveOccup: Overcrowded areas tend to</a:t>
            </a:r>
            <a:br/>
            <a:r>
              <a:t>have lower prices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Preview: Gradient Descent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6AB"/>
                </a:solidFill>
              </a:defRPr>
            </a:pPr>
            <a:r>
              <a:t>Coming soon in your syllabus!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548640"/>
          </a:xfrm>
          <a:prstGeom prst="round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6511D"/>
                </a:solidFill>
              </a:defRPr>
            </a:pPr>
            <a:r>
              <a:t>An ITERATIVE alternative to the Normal Equation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Instead of solving directly, Gradient Descent:</a:t>
            </a:r>
            <a:br/>
            <a:br/>
            <a:r>
              <a:t>1. Start with random weights (theta = 0)</a:t>
            </a:r>
            <a:br/>
            <a:r>
              <a:t>2. Calculate the error</a:t>
            </a:r>
            <a:br/>
            <a:r>
              <a:t>3. Adjust weights to REDUCE the error</a:t>
            </a:r>
            <a:br/>
            <a:r>
              <a:t>4. Repeat thousands of times</a:t>
            </a:r>
            <a:br/>
            <a:br/>
            <a:r>
              <a:t>Formula:</a:t>
            </a:r>
            <a:br/>
            <a:r>
              <a:t>   theta := theta - alpha * (1/n) * X^T @ (X @ theta - y)</a:t>
            </a:r>
            <a:br/>
            <a:br/>
            <a:r>
              <a:t>alpha = learning rate (step size)</a:t>
            </a:r>
          </a:p>
        </p:txBody>
      </p:sp>
      <p:pic>
        <p:nvPicPr>
          <p:cNvPr id="7" name="Picture 6" descr="gradient_descent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0369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669280"/>
            <a:ext cx="5303520" cy="7315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Same answer as Normal Equation,</a:t>
            </a:r>
            <a:br/>
            <a:r>
              <a:t>but works for HUGE datasets!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Preview: Ridge Regression (Regularization)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6AB"/>
                </a:solidFill>
              </a:defRPr>
            </a:pPr>
            <a:r>
              <a:t>Preventing overfitting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303520" cy="4572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Normal Equation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theta = (X^T X)^(-1) X^T y</a:t>
            </a:r>
            <a:br/>
            <a:br/>
            <a:r>
              <a:t>Can overfit (memorize training data</a:t>
            </a:r>
            <a:br/>
            <a:r>
              <a:t>instead of learning the pattern)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303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554480"/>
            <a:ext cx="5303520" cy="45720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Ridge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theta = (X^T X + lambda*I)^(-1) X^T y</a:t>
            </a:r>
            <a:br/>
            <a:br/>
            <a:r>
              <a:t>Adds a "brake" (lambda*I) to prevent</a:t>
            </a:r>
            <a:br/>
            <a:r>
              <a:t>weights from becoming too large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0">
                <a:solidFill>
                  <a:srgbClr val="1B2A4A"/>
                </a:solidFill>
              </a:defRPr>
            </a:pPr>
            <a:r>
              <a:t>lambda (the penalty):   lambda = 0 --&gt; same as normal   |   lambda = small --&gt; gentle brake   |   lambda = large --&gt; strong brake (too simple)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</a:defRPr>
            </a:pPr>
            <a:r>
              <a:t>The 'I' in lambda*I is the Identity Matrix from class!</a:t>
            </a:r>
            <a:br/>
            <a:r>
              <a:t>    [1, 0, 0]        This is a matrix with 1s on the diagonal</a:t>
            </a:r>
            <a:br/>
            <a:r>
              <a:t>    [0, 1, 0]        and 0s everywhere else.</a:t>
            </a:r>
            <a:br/>
            <a:r>
              <a:t>    [0, 0, 1]        Ridge just adds this to X^T X before inverting!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Methods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21</a:t>
            </a:r>
          </a:p>
        </p:txBody>
      </p:sp>
      <p:pic>
        <p:nvPicPr>
          <p:cNvPr id="4" name="Picture 3" descr="method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430000" cy="328158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20116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4754880"/>
            <a:ext cx="20116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Speed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754880"/>
            <a:ext cx="20116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9" y="4754880"/>
            <a:ext cx="20116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Scalability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4754880"/>
            <a:ext cx="2011680" cy="4114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Tuning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2011680" cy="36576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Normal Equation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521208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Fast (small)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521208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Exact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199" y="521208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Poor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521208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623560"/>
            <a:ext cx="2011680" cy="36576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Gradient Descent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562356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562356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High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199" y="562356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Excellent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562356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Learning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035040"/>
            <a:ext cx="201168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Ridge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603504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Medium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603504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Better gen.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199" y="603504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Excellent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0" y="6035040"/>
            <a:ext cx="2011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Lambda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22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Linear Algebra powers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</a:defRPr>
            </a:pPr>
            <a:r>
              <a:t>Every ML model uses matrices - what you learn in class directly applies!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423160"/>
            <a:ext cx="457200" cy="4572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The Normal Equation is pure matrix 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</a:defRPr>
            </a:pPr>
            <a:r>
              <a:t>Transpose, multiply, invert - these 3 operations solve real problems!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Data is just a big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94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</a:defRPr>
            </a:pPr>
            <a:r>
              <a:t>20,640 houses x 8 features = one matrix multiplication away from predictions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526279"/>
            <a:ext cx="457200" cy="4572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48055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Our model works!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1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</a:defRPr>
            </a:pPr>
            <a:r>
              <a:t>R-squared = 0.61 - we explain 61% of price variation from scratch!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77840"/>
            <a:ext cx="457200" cy="45720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32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This is just the beginning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897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</a:defRPr>
            </a:pPr>
            <a:r>
              <a:t>Gradient Descent, Ridge, PCA, Neural Networks - all built on linear algebra!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Linear Algebra Concepts We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23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47472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474720" cy="64008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Storing all data points</a:t>
            </a:r>
            <a:br/>
            <a:r>
              <a:t>and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92608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X (20640 x 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47472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554480"/>
            <a:ext cx="347472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Matrix</a:t>
            </a:r>
            <a:br/>
            <a:r>
              <a:t>Multiplication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2860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Computing predictions</a:t>
            </a:r>
            <a:br/>
            <a:r>
              <a:t>y = X @ theta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200400"/>
            <a:ext cx="292608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3498DB"/>
                </a:solidFill>
              </a:defRPr>
            </a:pPr>
            <a:r>
              <a:t>(m x n) @ (n x p) = (m x 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47472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474720" cy="64008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Matrix</a:t>
            </a:r>
            <a:br/>
            <a:r>
              <a:t>Transpose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Normal Equation step</a:t>
            </a:r>
            <a:br/>
            <a:r>
              <a:t>X^T flips the matrix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3200400"/>
            <a:ext cx="292608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6511D"/>
                </a:solidFill>
              </a:defRPr>
            </a:pPr>
            <a:r>
              <a:t>(m x n) --&gt; (n x 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347472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347472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Matrix</a:t>
            </a:r>
            <a:br/>
            <a: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Normal Equation step</a:t>
            </a:r>
            <a:br/>
            <a:r>
              <a:t>(X^T X)^(-1)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760720"/>
            <a:ext cx="292608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9B59B6"/>
                </a:solidFill>
              </a:defRPr>
            </a:pPr>
            <a:r>
              <a:t>A @ A^(-1) = 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4114800"/>
            <a:ext cx="347472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97680" y="4114800"/>
            <a:ext cx="34747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Identity</a:t>
            </a:r>
            <a:br/>
            <a:r>
              <a:t>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8463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Ridge Regression</a:t>
            </a:r>
            <a:br/>
            <a:r>
              <a:t>lambda * 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5760720"/>
            <a:ext cx="292608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2ECC71"/>
                </a:solidFill>
              </a:defRPr>
            </a:pPr>
            <a:r>
              <a:t>Diagonal of 1s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4114800"/>
            <a:ext cx="347472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60" y="4114800"/>
            <a:ext cx="347472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Vectors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8463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Parameters (theta)</a:t>
            </a:r>
            <a:br/>
            <a:r>
              <a:t>Predictions (y-hat)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5760720"/>
            <a:ext cx="292608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E74C3C"/>
                </a:solidFill>
              </a:defRPr>
            </a:pPr>
            <a:r>
              <a:t>Column vectors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1887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What's Next? Future Linear Algebra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99999"/>
                </a:solidFill>
              </a:defRPr>
            </a:pPr>
            <a: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56032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Eigenvalues &amp;</a:t>
            </a:r>
            <a:br/>
            <a:r>
              <a:t>Eigenvectors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PCA - reduce dimensions</a:t>
            </a:r>
            <a:br/>
            <a:r>
              <a:t>while keeping key info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371600" y="3657600"/>
            <a:ext cx="548640" cy="27432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2194560" cy="731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Dimensionality</a:t>
            </a:r>
            <a:br/>
            <a:r>
              <a:t>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560320" cy="731520"/>
          </a:xfrm>
          <a:prstGeom prst="roundRect">
            <a:avLst/>
          </a:prstGeom>
          <a:solidFill>
            <a:srgbClr val="F65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Vector Spaces &amp;</a:t>
            </a:r>
            <a:br/>
            <a:r>
              <a:t>Linear Transforms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688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Understand data</a:t>
            </a:r>
            <a:br/>
            <a:r>
              <a:t>transformations deeply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3657600"/>
            <a:ext cx="548640" cy="27432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4114800"/>
            <a:ext cx="2194560" cy="731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6511D"/>
                </a:solidFill>
              </a:defRPr>
            </a:pPr>
            <a:r>
              <a:t>Deep Learning</a:t>
            </a:r>
            <a:br/>
            <a:r>
              <a:t>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256032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Determinants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4688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Check if a matrix</a:t>
            </a:r>
            <a:br/>
            <a:r>
              <a:t>can be inverted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23760" y="3657600"/>
            <a:ext cx="548640" cy="27432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4114800"/>
            <a:ext cx="2194560" cy="731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9B59B6"/>
                </a:solidFill>
              </a:defRPr>
            </a:pPr>
            <a:r>
              <a:t>Model</a:t>
            </a:r>
            <a:br/>
            <a:r>
              <a:t>Stability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560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5440" y="1554480"/>
            <a:ext cx="256032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Singular Value</a:t>
            </a:r>
            <a:br/>
            <a:r>
              <a:t>Decomposition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4688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</a:defRPr>
            </a:pPr>
            <a:r>
              <a:t>Advanced matrix</a:t>
            </a:r>
            <a:br/>
            <a:r>
              <a:t>factorization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49840" y="3657600"/>
            <a:ext cx="548640" cy="27432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18320" y="4114800"/>
            <a:ext cx="2194560" cy="7315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2ECC71"/>
                </a:solidFill>
              </a:defRPr>
            </a:pPr>
            <a:r>
              <a:t>Recommendation</a:t>
            </a:r>
            <a:br/>
            <a:r>
              <a:t>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800" b="1">
                <a:solidFill>
                  <a:srgbClr val="F39C12"/>
                </a:solidFill>
              </a:defRPr>
            </a:pPr>
            <a:r>
              <a:t>Linear Algebra is the foundation of ALL modern AI and Machine Learning!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 evt="onNext"/>
                      </p:stCondLst>
                      <p:childTnLst>
                        <p:par>
                          <p:cTn id="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645920"/>
            <a:ext cx="4846320" cy="36576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E86AB"/>
                </a:solidFill>
              </a:defRPr>
            </a:pPr>
            <a:r>
              <a:t>Questions &amp; Discussion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0175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Omar Shaker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30175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Ahmad Roshdy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0175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Mark Tamer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301752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Khalid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8404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Carlos Emad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38404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Ahmad Fouad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8404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Yousef Hany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59" y="3840480"/>
            <a:ext cx="2194560" cy="548640"/>
          </a:xfrm>
          <a:prstGeom prst="roundRect">
            <a:avLst/>
          </a:prstGeom>
          <a:solidFill>
            <a:srgbClr val="24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Mohammad Elsayed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39C12"/>
                </a:solidFill>
              </a:defRPr>
            </a:pPr>
            <a:r>
              <a:t>Linear Algebra Project  |  Computer Science Freshmen  | 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99AA"/>
                </a:solidFill>
              </a:defRPr>
            </a:pPr>
            <a:r>
              <a:t>GitHub: github.com/AhmedMohammedRo/Linear_Algebra_Project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